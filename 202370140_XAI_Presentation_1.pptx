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5"/>
  </p:notesMasterIdLst>
  <p:handoutMasterIdLst>
    <p:handoutMasterId r:id="rId36"/>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51" r:id="rId17"/>
    <p:sldId id="350" r:id="rId18"/>
    <p:sldId id="337" r:id="rId19"/>
    <p:sldId id="340" r:id="rId20"/>
    <p:sldId id="352" r:id="rId21"/>
    <p:sldId id="334" r:id="rId22"/>
    <p:sldId id="335" r:id="rId23"/>
    <p:sldId id="338" r:id="rId24"/>
    <p:sldId id="260" r:id="rId25"/>
    <p:sldId id="325" r:id="rId26"/>
    <p:sldId id="341" r:id="rId27"/>
    <p:sldId id="342" r:id="rId28"/>
    <p:sldId id="326" r:id="rId29"/>
    <p:sldId id="344" r:id="rId30"/>
    <p:sldId id="345" r:id="rId31"/>
    <p:sldId id="327" r:id="rId32"/>
    <p:sldId id="346" r:id="rId33"/>
    <p:sldId id="26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3" autoAdjust="0"/>
    <p:restoredTop sz="95660" autoAdjust="0"/>
  </p:normalViewPr>
  <p:slideViewPr>
    <p:cSldViewPr snapToGrid="0">
      <p:cViewPr varScale="1">
        <p:scale>
          <a:sx n="73" d="100"/>
          <a:sy n="73" d="100"/>
        </p:scale>
        <p:origin x="713" y="55"/>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dirty="0"/>
            <a:t>Small Balanced </a:t>
          </a:r>
          <a:r>
            <a:rPr lang="en-US" dirty="0"/>
            <a:t>Datasets</a:t>
          </a:r>
          <a:r>
            <a:rPr lang="en-US" b="1" dirty="0"/>
            <a:t> </a:t>
          </a:r>
          <a:r>
            <a:rPr lang="en-US" dirty="0"/>
            <a:t>(n = 10000) vs </a:t>
          </a:r>
          <a:r>
            <a:rPr lang="en-US" b="1" dirty="0"/>
            <a:t>Large Balanced </a:t>
          </a:r>
          <a:r>
            <a:rPr lang="en-US" dirty="0"/>
            <a:t>Datasets (n = 1000000)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dirty="0"/>
            <a:t>Small Imbalanced </a:t>
          </a:r>
          <a:r>
            <a:rPr lang="en-US" dirty="0"/>
            <a:t>Datasets (n = 10000) vs </a:t>
          </a:r>
          <a:r>
            <a:rPr lang="en-US" b="1" dirty="0"/>
            <a:t>Large Imbalanced</a:t>
          </a:r>
          <a:r>
            <a:rPr lang="en-US" dirty="0"/>
            <a:t> Datasets (n = 1000000)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There is </a:t>
          </a:r>
          <a:r>
            <a:rPr lang="en-US" b="1" dirty="0"/>
            <a:t>bias in class-imbalance dataset</a:t>
          </a:r>
          <a:r>
            <a:rPr lang="en-US" dirty="0"/>
            <a:t>. But small sample size can’t detect it.</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b="1" dirty="0"/>
            <a:t>Large data set can show the true face of the bias</a:t>
          </a:r>
          <a:r>
            <a:rPr lang="en-US" dirty="0"/>
            <a: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dirty="0"/>
            <a:t>In </a:t>
          </a:r>
          <a:r>
            <a:rPr lang="en-US" b="1" dirty="0"/>
            <a:t>small and imbalanced datasets</a:t>
          </a:r>
          <a:r>
            <a:rPr lang="en-US" dirty="0"/>
            <a:t>, model often shows a </a:t>
          </a:r>
          <a:r>
            <a:rPr lang="en-US" b="1" dirty="0"/>
            <a:t>fake</a:t>
          </a:r>
          <a:r>
            <a:rPr lang="en-US" dirty="0"/>
            <a:t> high performances metrics, gives </a:t>
          </a:r>
          <a:r>
            <a:rPr lang="en-US" b="1" dirty="0"/>
            <a:t>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custLinFactNeighborX="11179" custLinFactNeighborY="-2414"/>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Class-Imbalanced </a:t>
          </a:r>
          <a:r>
            <a:rPr lang="en-ID" dirty="0"/>
            <a:t>data set results in </a:t>
          </a:r>
          <a:r>
            <a:rPr lang="en-ID" b="1" dirty="0"/>
            <a:t>bias</a:t>
          </a:r>
          <a:r>
            <a:rPr lang="en-ID" dirty="0"/>
            <a:t>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dirty="0"/>
            <a:t>Small Sample Size </a:t>
          </a:r>
          <a:r>
            <a:rPr lang="en-ID" dirty="0"/>
            <a:t>gave misleading impression of fairness, because it can fake the model's performance on minority classes, when in fact it does not.</a:t>
          </a:r>
          <a:endParaRPr lang="en-US" dirty="0"/>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 </a:t>
          </a:r>
          <a:r>
            <a:rPr lang="en-ID" dirty="0"/>
            <a:t>is failed when using small class-imbalanced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t>
          </a:r>
          <a:r>
            <a:rPr lang="en-US" b="1" dirty="0"/>
            <a:t>two</a:t>
          </a:r>
          <a:r>
            <a:rPr lang="en-US" dirty="0"/>
            <a:t> types of data characteristics, which are only data </a:t>
          </a:r>
          <a:r>
            <a:rPr lang="en-US" b="1" dirty="0"/>
            <a:t>homogeneity </a:t>
          </a:r>
          <a:r>
            <a:rPr lang="en-US" dirty="0"/>
            <a:t>and </a:t>
          </a:r>
          <a:r>
            <a:rPr lang="en-US" b="1" dirty="0"/>
            <a:t>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a:t>
          </a:r>
          <a:r>
            <a:rPr lang="en-US" b="1" dirty="0"/>
            <a:t>logistic regression </a:t>
          </a:r>
          <a:r>
            <a:rPr lang="en-US" dirty="0"/>
            <a:t>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a:t>
          </a:r>
          <a:r>
            <a:rPr lang="en-US" b="1" dirty="0"/>
            <a:t>synthetic (artificial) datasets</a:t>
          </a:r>
          <a:r>
            <a:rPr lang="en-US" dirty="0"/>
            <a:t>.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724"/>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40001" y="182238"/>
          <a:ext cx="436366" cy="43636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916369" y="3724"/>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916369" y="3724"/>
        <a:ext cx="9644202" cy="793393"/>
      </dsp:txXfrm>
    </dsp:sp>
    <dsp:sp modelId="{6356869F-88D1-46BC-AC80-815742378100}">
      <dsp:nvSpPr>
        <dsp:cNvPr id="0" name=""/>
        <dsp:cNvSpPr/>
      </dsp:nvSpPr>
      <dsp:spPr>
        <a:xfrm>
          <a:off x="0" y="995466"/>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40001" y="1173979"/>
          <a:ext cx="436366" cy="43636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916369" y="995466"/>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Balanced </a:t>
          </a:r>
          <a:r>
            <a:rPr lang="en-US" sz="1900" kern="1200" dirty="0"/>
            <a:t>Datasets</a:t>
          </a:r>
          <a:r>
            <a:rPr lang="en-US" sz="1900" b="1" kern="1200" dirty="0"/>
            <a:t> </a:t>
          </a:r>
          <a:r>
            <a:rPr lang="en-US" sz="1900" kern="1200" dirty="0"/>
            <a:t>(n = 10000) vs </a:t>
          </a:r>
          <a:r>
            <a:rPr lang="en-US" sz="1900" b="1" kern="1200" dirty="0"/>
            <a:t>Large Balanced </a:t>
          </a:r>
          <a:r>
            <a:rPr lang="en-US" sz="1900" kern="1200" dirty="0"/>
            <a:t>Datasets (n = 1000000)</a:t>
          </a:r>
        </a:p>
      </dsp:txBody>
      <dsp:txXfrm>
        <a:off x="916369" y="995466"/>
        <a:ext cx="9644202" cy="793393"/>
      </dsp:txXfrm>
    </dsp:sp>
    <dsp:sp modelId="{173985AF-D1B4-4A73-9272-C2429E6FF0E5}">
      <dsp:nvSpPr>
        <dsp:cNvPr id="0" name=""/>
        <dsp:cNvSpPr/>
      </dsp:nvSpPr>
      <dsp:spPr>
        <a:xfrm>
          <a:off x="0" y="1987207"/>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40001" y="2165721"/>
          <a:ext cx="436366" cy="43636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916369" y="1987207"/>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Imbalanced </a:t>
          </a:r>
          <a:r>
            <a:rPr lang="en-US" sz="1900" kern="1200" dirty="0"/>
            <a:t>Datasets (n = 10000) vs </a:t>
          </a:r>
          <a:r>
            <a:rPr lang="en-US" sz="1900" b="1" kern="1200" dirty="0"/>
            <a:t>Large Imbalanced</a:t>
          </a:r>
          <a:r>
            <a:rPr lang="en-US" sz="1900" kern="1200" dirty="0"/>
            <a:t> Datasets (n = 1000000) </a:t>
          </a:r>
        </a:p>
      </dsp:txBody>
      <dsp:txXfrm>
        <a:off x="916369" y="1987207"/>
        <a:ext cx="9644202" cy="793393"/>
      </dsp:txXfrm>
    </dsp:sp>
    <dsp:sp modelId="{A50CC19D-A895-4438-9C40-D511A5CCB577}">
      <dsp:nvSpPr>
        <dsp:cNvPr id="0" name=""/>
        <dsp:cNvSpPr/>
      </dsp:nvSpPr>
      <dsp:spPr>
        <a:xfrm>
          <a:off x="0" y="2978949"/>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40001" y="3157462"/>
          <a:ext cx="436366" cy="43636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916369" y="2978949"/>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916369" y="2978949"/>
        <a:ext cx="9644202" cy="793393"/>
      </dsp:txXfrm>
    </dsp:sp>
    <dsp:sp modelId="{5316A4F7-90AC-45B7-AD11-5CF29133E80A}">
      <dsp:nvSpPr>
        <dsp:cNvPr id="0" name=""/>
        <dsp:cNvSpPr/>
      </dsp:nvSpPr>
      <dsp:spPr>
        <a:xfrm>
          <a:off x="0" y="3970690"/>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40001" y="4149204"/>
          <a:ext cx="436366" cy="43636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916369" y="3970690"/>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916369" y="3970690"/>
        <a:ext cx="9644202" cy="79339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There is </a:t>
          </a:r>
          <a:r>
            <a:rPr lang="en-US" sz="1500" b="1" kern="1200" dirty="0"/>
            <a:t>bias in class-imbalance dataset</a:t>
          </a:r>
          <a:r>
            <a:rPr lang="en-US" sz="1500" kern="1200" dirty="0"/>
            <a:t>. But small sample size can’t detect it.</a:t>
          </a:r>
        </a:p>
      </dsp:txBody>
      <dsp:txXfrm>
        <a:off x="1396290" y="516"/>
        <a:ext cx="3900487" cy="1208909"/>
      </dsp:txXfrm>
    </dsp:sp>
    <dsp:sp modelId="{414F4BC7-70EA-4594-B18E-D2F1B122F205}">
      <dsp:nvSpPr>
        <dsp:cNvPr id="0" name=""/>
        <dsp:cNvSpPr/>
      </dsp:nvSpPr>
      <dsp:spPr>
        <a:xfrm>
          <a:off x="0" y="1482470"/>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b="1" kern="1200" dirty="0"/>
            <a:t>Large data set can show the true face of the bias</a:t>
          </a:r>
          <a:r>
            <a:rPr lang="en-US" sz="1500" kern="1200" dirty="0"/>
            <a: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In </a:t>
          </a:r>
          <a:r>
            <a:rPr lang="en-US" sz="1500" b="1" kern="1200" dirty="0"/>
            <a:t>small and imbalanced datasets</a:t>
          </a:r>
          <a:r>
            <a:rPr lang="en-US" sz="1500" kern="1200" dirty="0"/>
            <a:t>, model often shows a </a:t>
          </a:r>
          <a:r>
            <a:rPr lang="en-US" sz="1500" b="1" kern="1200" dirty="0"/>
            <a:t>fake</a:t>
          </a:r>
          <a:r>
            <a:rPr lang="en-US" sz="1500" kern="1200" dirty="0"/>
            <a:t> high performances metrics, gives </a:t>
          </a:r>
          <a:r>
            <a:rPr lang="en-US" sz="1500" b="1" kern="1200" dirty="0"/>
            <a:t>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Class-Imbalanced </a:t>
          </a:r>
          <a:r>
            <a:rPr lang="en-ID" sz="2300" kern="1200" dirty="0"/>
            <a:t>data set results in </a:t>
          </a:r>
          <a:r>
            <a:rPr lang="en-ID" sz="2300" b="1" kern="1200" dirty="0"/>
            <a:t>bias</a:t>
          </a:r>
          <a:r>
            <a:rPr lang="en-ID" sz="2300" kern="1200" dirty="0"/>
            <a:t> in the model that discriminatively and unfairly predicts directly for the majority class. Minority groups are not represented, resulting in low accuracy.</a:t>
          </a:r>
          <a:endParaRPr lang="en-US" sz="23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Small Sample Size </a:t>
          </a:r>
          <a:r>
            <a:rPr lang="en-ID" sz="2300" kern="1200" dirty="0"/>
            <a:t>gave misleading impression of fairness, because it can fake the model's performance on minority classes, when in fact it does not.</a:t>
          </a:r>
          <a:endParaRPr lang="en-US" sz="2300" kern="1200" dirty="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Bias Evaluation </a:t>
          </a:r>
          <a:r>
            <a:rPr lang="en-ID" sz="2300" kern="1200" dirty="0"/>
            <a:t>is failed when using small class-imbalanced data sets</a:t>
          </a:r>
          <a:endParaRPr lang="en-US" sz="23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evaluates </a:t>
          </a:r>
          <a:r>
            <a:rPr lang="en-US" sz="2200" b="1" kern="1200" dirty="0"/>
            <a:t>two</a:t>
          </a:r>
          <a:r>
            <a:rPr lang="en-US" sz="2200" kern="1200" dirty="0"/>
            <a:t> types of data characteristics, which are only data </a:t>
          </a:r>
          <a:r>
            <a:rPr lang="en-US" sz="2200" b="1" kern="1200" dirty="0"/>
            <a:t>homogeneity </a:t>
          </a:r>
          <a:r>
            <a:rPr lang="en-US" sz="2200" kern="1200" dirty="0"/>
            <a:t>and </a:t>
          </a:r>
          <a:r>
            <a:rPr lang="en-US" sz="2200" b="1" kern="1200" dirty="0"/>
            <a:t>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use </a:t>
          </a:r>
          <a:r>
            <a:rPr lang="en-US" sz="2200" b="1" kern="1200" dirty="0"/>
            <a:t>logistic regression </a:t>
          </a:r>
          <a:r>
            <a:rPr lang="en-US" sz="2200" kern="1200" dirty="0"/>
            <a:t>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The study was also limited to only the use of </a:t>
          </a:r>
          <a:r>
            <a:rPr lang="en-US" sz="2200" b="1" kern="1200" dirty="0"/>
            <a:t>synthetic (artificial) datasets</a:t>
          </a:r>
          <a:r>
            <a:rPr lang="en-US" sz="2200" kern="1200" dirty="0"/>
            <a:t>.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11/23/2024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11/23/2024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7E1A0-24D5-9786-16F7-4423DA6A9F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AC3C2-086C-4744-0F74-F9EAAF073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364B9-13A2-CD8D-A923-5FFE268CF8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C0E3DC-8E14-D961-B03C-EB37ED475071}"/>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23196578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C222-06F2-452F-6CCF-4FE0ADC1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6B4BA-A108-11B7-CD3B-6761B705A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94925-0EE5-A4B0-25F1-F89BDE68DD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A9E52F-FD11-6DC6-F671-C1BC0F5AB8B6}"/>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649726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9D4-02F1-5507-9BCF-27ADDF097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4B017-DDEC-C29F-71DD-05CC9B56A2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5AAB62-BA0E-8323-3A94-7B00ABCB59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79D29C-FFED-516C-89C2-E445121FC49E}"/>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468797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21</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28</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29</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30</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11/23/2024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2001187"/>
            <a:ext cx="10665664" cy="2780676"/>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000" dirty="0">
                <a:solidFill>
                  <a:schemeClr val="tx1">
                    <a:lumMod val="65000"/>
                    <a:lumOff val="35000"/>
                  </a:schemeClr>
                </a:solidFill>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solidFill>
                  <a:schemeClr val="tx1">
                    <a:lumMod val="65000"/>
                    <a:lumOff val="35000"/>
                  </a:schemeClr>
                </a:solidFill>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solidFill>
                <a:schemeClr val="tx1">
                  <a:lumMod val="65000"/>
                  <a:lumOff val="35000"/>
                </a:schemeClr>
              </a:solidFill>
            </a:endParaRPr>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4359206"/>
          </a:xfrm>
        </p:spPr>
        <p:txBody>
          <a:bodyPr vert="horz" lIns="91440" tIns="45720" rIns="91440" bIns="45720" rtlCol="0" anchor="b" anchorCtr="0">
            <a:normAutofit/>
          </a:bodyPr>
          <a:lstStyle/>
          <a:p>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br>
              <a:rPr lang="en-US" sz="2800" dirty="0"/>
            </a:br>
            <a:br>
              <a:rPr lang="en-US" sz="2800" dirty="0"/>
            </a:br>
            <a:endParaRPr lang="en-US" sz="2800" dirty="0"/>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pPr rtl="0"/>
            <a:r>
              <a:rPr lang="en-ID" sz="2000" dirty="0"/>
              <a:t>1. How does the dataset homogeneity composition (balance vs. imbalanced) impact the AI model transparency and fairness in decision-making systems?</a:t>
            </a:r>
          </a:p>
          <a:p>
            <a:pPr rtl="0"/>
            <a:endParaRPr lang="en-ID" sz="2000" dirty="0"/>
          </a:p>
          <a:p>
            <a:pPr rtl="0"/>
            <a:r>
              <a:rPr lang="en-ID" sz="2000" dirty="0"/>
              <a:t>2. What is the relationship between data sparsity/ dataset’s size and the accuracy of bias evaluation in AI models, when the training data is class-imbalanced ?</a:t>
            </a:r>
          </a:p>
          <a:p>
            <a:pPr rtl="0"/>
            <a:br>
              <a:rPr lang="en-ID" sz="2000" dirty="0"/>
            </a:br>
            <a:r>
              <a:rPr lang="en-ID" sz="2000" dirty="0"/>
              <a:t>3. How do small sample sizes mislead the bias evaluation for models trained on class-imbalanced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dirty="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extLst>
              <p:ext uri="{D42A27DB-BD31-4B8C-83A1-F6EECF244321}">
                <p14:modId xmlns:p14="http://schemas.microsoft.com/office/powerpoint/2010/main" val="1578855770"/>
              </p:ext>
            </p:extLst>
          </p:nvPr>
        </p:nvGraphicFramePr>
        <p:xfrm>
          <a:off x="682052" y="1461541"/>
          <a:ext cx="10560572" cy="4767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A9A92ED-3D15-8EBD-FE41-4BF2B453AABE}"/>
              </a:ext>
            </a:extLst>
          </p:cNvPr>
          <p:cNvSpPr txBox="1"/>
          <p:nvPr/>
        </p:nvSpPr>
        <p:spPr>
          <a:xfrm>
            <a:off x="682052" y="628650"/>
            <a:ext cx="10305738" cy="461665"/>
          </a:xfrm>
          <a:prstGeom prst="rect">
            <a:avLst/>
          </a:prstGeom>
          <a:noFill/>
        </p:spPr>
        <p:txBody>
          <a:bodyPr wrap="square">
            <a:spAutoFit/>
          </a:bodyPr>
          <a:lstStyle/>
          <a:p>
            <a:r>
              <a:rPr lang="en-ID" sz="2400" b="1" dirty="0"/>
              <a:t>Methodology</a:t>
            </a:r>
            <a:endParaRPr lang="en-ID" sz="2000" dirty="0"/>
          </a:p>
        </p:txBody>
      </p:sp>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4B22-E26D-CF94-ED09-F2F39E1D043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849F3AD-47E9-E699-AA9F-DCE5EB0BC9D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Large Size Dataset</a:t>
            </a:r>
          </a:p>
        </p:txBody>
      </p:sp>
    </p:spTree>
    <p:extLst>
      <p:ext uri="{BB962C8B-B14F-4D97-AF65-F5344CB8AC3E}">
        <p14:creationId xmlns:p14="http://schemas.microsoft.com/office/powerpoint/2010/main" val="1869268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3708-1BF5-2197-D511-043E8C99786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A8D9163-E7FB-7CE9-7215-65367C587D91}"/>
              </a:ext>
            </a:extLst>
          </p:cNvPr>
          <p:cNvSpPr>
            <a:spLocks noGrp="1"/>
          </p:cNvSpPr>
          <p:nvPr>
            <p:ph type="title"/>
          </p:nvPr>
        </p:nvSpPr>
        <p:spPr>
          <a:xfrm>
            <a:off x="6250898" y="554863"/>
            <a:ext cx="5411862" cy="1169006"/>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Class-Balanced Dataset</a:t>
            </a:r>
          </a:p>
        </p:txBody>
      </p:sp>
      <p:sp>
        <p:nvSpPr>
          <p:cNvPr id="4" name="TextBox 3">
            <a:extLst>
              <a:ext uri="{FF2B5EF4-FFF2-40B4-BE49-F238E27FC236}">
                <a16:creationId xmlns:a16="http://schemas.microsoft.com/office/drawing/2014/main" id="{FF46ECE6-49D0-ABCB-D923-DBF3C41A8143}"/>
              </a:ext>
            </a:extLst>
          </p:cNvPr>
          <p:cNvSpPr txBox="1"/>
          <p:nvPr/>
        </p:nvSpPr>
        <p:spPr>
          <a:xfrm>
            <a:off x="6340839" y="1786035"/>
            <a:ext cx="5561351" cy="2233945"/>
          </a:xfrm>
          <a:prstGeom prst="rect">
            <a:avLst/>
          </a:prstGeom>
          <a:noFill/>
        </p:spPr>
        <p:txBody>
          <a:bodyPr wrap="square">
            <a:spAutoFit/>
          </a:bodyPr>
          <a:lstStyle/>
          <a:p>
            <a:pPr algn="just">
              <a:lnSpc>
                <a:spcPct val="150000"/>
              </a:lnSpc>
              <a:spcBef>
                <a:spcPts val="1100"/>
              </a:spcBef>
              <a:spcAft>
                <a:spcPts val="1200"/>
              </a:spcAft>
            </a:pPr>
            <a:r>
              <a:rPr lang="en-ID" sz="2000" b="1" dirty="0">
                <a:effectLst/>
                <a:latin typeface="Times New Roman" panose="02020603050405020304" pitchFamily="18" charset="0"/>
                <a:ea typeface="Calibri" panose="020F0502020204030204" pitchFamily="34" charset="0"/>
              </a:rPr>
              <a:t>Good for all classes.</a:t>
            </a:r>
            <a:r>
              <a:rPr lang="en-ID" sz="2000" b="0" dirty="0">
                <a:effectLst/>
                <a:latin typeface="Times New Roman" panose="02020603050405020304" pitchFamily="18" charset="0"/>
                <a:ea typeface="Calibri" panose="020F0502020204030204" pitchFamily="34" charset="0"/>
              </a:rPr>
              <a:t> </a:t>
            </a:r>
          </a:p>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LIME's explanation for large balanced dataset shows that both features contribute to both classes. </a:t>
            </a:r>
            <a:endParaRPr lang="en-ID" sz="2000" b="1" dirty="0">
              <a:effectLst/>
              <a:latin typeface="Times New Roman" panose="02020603050405020304" pitchFamily="18" charset="0"/>
              <a:ea typeface="Calibri" panose="020F0502020204030204" pitchFamily="34" charset="0"/>
            </a:endParaRPr>
          </a:p>
          <a:p>
            <a:r>
              <a:rPr lang="en-US" sz="2000" dirty="0">
                <a:effectLst/>
                <a:latin typeface="Linux Libertine"/>
                <a:ea typeface="Calibri" panose="020F0502020204030204" pitchFamily="34" charset="0"/>
                <a:cs typeface="Times New Roman" panose="02020603050405020304" pitchFamily="18" charset="0"/>
              </a:rPr>
              <a:t>No class was ignored. </a:t>
            </a:r>
            <a:endParaRPr lang="en-ID" sz="2400" dirty="0"/>
          </a:p>
        </p:txBody>
      </p:sp>
      <p:pic>
        <p:nvPicPr>
          <p:cNvPr id="2" name="Picture 1"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354642"/>
            <a:ext cx="10087516" cy="2098059"/>
          </a:xfrm>
          <a:prstGeom prst="rect">
            <a:avLst/>
          </a:prstGeom>
        </p:spPr>
      </p:pic>
    </p:spTree>
    <p:extLst>
      <p:ext uri="{BB962C8B-B14F-4D97-AF65-F5344CB8AC3E}">
        <p14:creationId xmlns:p14="http://schemas.microsoft.com/office/powerpoint/2010/main" val="107509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6250898" y="554863"/>
            <a:ext cx="5411862" cy="1212045"/>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Class-Imbalanced Dataset</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34446" y="4281322"/>
            <a:ext cx="11140327" cy="2064789"/>
          </a:xfrm>
          <a:prstGeom prst="rect">
            <a:avLst/>
          </a:prstGeom>
        </p:spPr>
      </p:pic>
      <p:sp>
        <p:nvSpPr>
          <p:cNvPr id="4" name="TextBox 3">
            <a:extLst>
              <a:ext uri="{FF2B5EF4-FFF2-40B4-BE49-F238E27FC236}">
                <a16:creationId xmlns:a16="http://schemas.microsoft.com/office/drawing/2014/main" id="{F61B464A-F2F4-307C-58F9-19B32CF8210D}"/>
              </a:ext>
            </a:extLst>
          </p:cNvPr>
          <p:cNvSpPr txBox="1"/>
          <p:nvPr/>
        </p:nvSpPr>
        <p:spPr>
          <a:xfrm>
            <a:off x="6250898" y="2036311"/>
            <a:ext cx="5627792" cy="1815882"/>
          </a:xfrm>
          <a:prstGeom prst="rect">
            <a:avLst/>
          </a:prstGeom>
          <a:noFill/>
        </p:spPr>
        <p:txBody>
          <a:bodyPr wrap="square">
            <a:spAutoFit/>
          </a:bodyPr>
          <a:lstStyle/>
          <a:p>
            <a:r>
              <a:rPr lang="en-US" sz="1400" dirty="0">
                <a:effectLst/>
                <a:latin typeface="Arial" panose="020B0604020202020204" pitchFamily="34" charset="0"/>
                <a:ea typeface="Calibri" panose="020F0502020204030204" pitchFamily="34" charset="0"/>
                <a:cs typeface="Arial" panose="020B0604020202020204" pitchFamily="34" charset="0"/>
              </a:rPr>
              <a:t>There is a </a:t>
            </a:r>
            <a:r>
              <a:rPr lang="en-US" sz="1400" b="1" dirty="0">
                <a:effectLst/>
                <a:latin typeface="Arial" panose="020B0604020202020204" pitchFamily="34" charset="0"/>
                <a:ea typeface="Calibri" panose="020F0502020204030204" pitchFamily="34" charset="0"/>
                <a:cs typeface="Arial" panose="020B0604020202020204" pitchFamily="34" charset="0"/>
              </a:rPr>
              <a:t>bias</a:t>
            </a:r>
            <a:r>
              <a:rPr lang="en-US" sz="1400" dirty="0">
                <a:latin typeface="Arial" panose="020B0604020202020204" pitchFamily="34" charset="0"/>
                <a:ea typeface="Calibri" panose="020F0502020204030204" pitchFamily="34" charset="0"/>
                <a:cs typeface="Arial" panose="020B0604020202020204" pitchFamily="34" charset="0"/>
              </a:rPr>
              <a:t> </a:t>
            </a:r>
            <a:r>
              <a:rPr lang="en-US" sz="1400" b="1" dirty="0">
                <a:latin typeface="Arial" panose="020B0604020202020204" pitchFamily="34" charset="0"/>
                <a:ea typeface="Calibri" panose="020F0502020204030204" pitchFamily="34" charset="0"/>
                <a:cs typeface="Arial" panose="020B0604020202020204" pitchFamily="34" charset="0"/>
              </a:rPr>
              <a:t>towards the majority class </a:t>
            </a:r>
            <a:r>
              <a:rPr lang="en-US" sz="1400" dirty="0">
                <a:latin typeface="Arial" panose="020B0604020202020204" pitchFamily="34" charset="0"/>
                <a:ea typeface="Calibri" panose="020F0502020204030204" pitchFamily="34" charset="0"/>
                <a:cs typeface="Arial" panose="020B0604020202020204" pitchFamily="34" charset="0"/>
              </a:rPr>
              <a:t>in Class-Imbalanced Dataset.</a:t>
            </a:r>
            <a:endParaRPr lang="en-US" sz="1400" dirty="0">
              <a:effectLst/>
              <a:latin typeface="Arial" panose="020B0604020202020204" pitchFamily="34" charset="0"/>
              <a:ea typeface="Calibri" panose="020F0502020204030204" pitchFamily="34" charset="0"/>
              <a:cs typeface="Arial" panose="020B0604020202020204" pitchFamily="34" charset="0"/>
            </a:endParaRPr>
          </a:p>
          <a:p>
            <a:br>
              <a:rPr lang="en-US" sz="1400" dirty="0">
                <a:effectLst/>
                <a:latin typeface="Arial" panose="020B0604020202020204" pitchFamily="34" charset="0"/>
                <a:ea typeface="Calibri" panose="020F0502020204030204" pitchFamily="34" charset="0"/>
                <a:cs typeface="Arial" panose="020B0604020202020204" pitchFamily="34" charset="0"/>
              </a:rPr>
            </a:br>
            <a:r>
              <a:rPr lang="en-ID" sz="1400" dirty="0">
                <a:latin typeface="Arial" panose="020B0604020202020204" pitchFamily="34" charset="0"/>
                <a:cs typeface="Arial" panose="020B0604020202020204" pitchFamily="34" charset="0"/>
              </a:rPr>
              <a:t>The model predicts </a:t>
            </a:r>
            <a:r>
              <a:rPr lang="en-ID" sz="1400" b="1" dirty="0">
                <a:latin typeface="Arial" panose="020B0604020202020204" pitchFamily="34" charset="0"/>
                <a:cs typeface="Arial" panose="020B0604020202020204" pitchFamily="34" charset="0"/>
              </a:rPr>
              <a:t>Class 0</a:t>
            </a:r>
            <a:r>
              <a:rPr lang="en-ID" sz="1400" dirty="0">
                <a:latin typeface="Arial" panose="020B0604020202020204" pitchFamily="34" charset="0"/>
                <a:cs typeface="Arial" panose="020B0604020202020204" pitchFamily="34" charset="0"/>
              </a:rPr>
              <a:t> with 100% confidence. </a:t>
            </a:r>
          </a:p>
          <a:p>
            <a:r>
              <a:rPr lang="en-ID" sz="1400" dirty="0">
                <a:latin typeface="Arial" panose="020B0604020202020204" pitchFamily="34" charset="0"/>
                <a:cs typeface="Arial" panose="020B0604020202020204" pitchFamily="34" charset="0"/>
              </a:rPr>
              <a:t>Probability of Class 1 is zero.</a:t>
            </a:r>
          </a:p>
          <a:p>
            <a:endParaRPr lang="en-ID" sz="1400" dirty="0">
              <a:latin typeface="Arial" panose="020B0604020202020204" pitchFamily="34" charset="0"/>
              <a:cs typeface="Arial" panose="020B0604020202020204" pitchFamily="34" charset="0"/>
            </a:endParaRPr>
          </a:p>
          <a:p>
            <a:r>
              <a:rPr lang="en-ID" sz="1400" b="1" dirty="0">
                <a:latin typeface="Arial" panose="020B0604020202020204" pitchFamily="34" charset="0"/>
                <a:cs typeface="Arial" panose="020B0604020202020204" pitchFamily="34" charset="0"/>
              </a:rPr>
              <a:t>Class 1</a:t>
            </a:r>
            <a:r>
              <a:rPr lang="en-ID" sz="1400" dirty="0">
                <a:latin typeface="Arial" panose="020B0604020202020204" pitchFamily="34" charset="0"/>
                <a:cs typeface="Arial" panose="020B0604020202020204" pitchFamily="34" charset="0"/>
              </a:rPr>
              <a:t> is the minority class, and the model learned to totally </a:t>
            </a:r>
            <a:r>
              <a:rPr lang="en-US" sz="1400" dirty="0">
                <a:effectLst/>
                <a:latin typeface="Arial" panose="020B0604020202020204" pitchFamily="34" charset="0"/>
                <a:ea typeface="Calibri" panose="020F0502020204030204" pitchFamily="34" charset="0"/>
                <a:cs typeface="Arial" panose="020B0604020202020204" pitchFamily="34" charset="0"/>
              </a:rPr>
              <a:t>ignores the probability of class 1 completely. </a:t>
            </a:r>
            <a:endParaRPr lang="en-ID"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Large Size Dataset Comparison</a:t>
            </a:r>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485346" y="2147342"/>
            <a:ext cx="6015663" cy="4472502"/>
          </a:xfrm>
          <a:prstGeom prst="rect">
            <a:avLst/>
          </a:prstGeom>
        </p:spPr>
      </p:pic>
      <p:sp>
        <p:nvSpPr>
          <p:cNvPr id="4" name="TextBox 3">
            <a:extLst>
              <a:ext uri="{FF2B5EF4-FFF2-40B4-BE49-F238E27FC236}">
                <a16:creationId xmlns:a16="http://schemas.microsoft.com/office/drawing/2014/main" id="{504B73E7-91A3-996F-B589-7EF102ADB79A}"/>
              </a:ext>
            </a:extLst>
          </p:cNvPr>
          <p:cNvSpPr txBox="1"/>
          <p:nvPr/>
        </p:nvSpPr>
        <p:spPr>
          <a:xfrm>
            <a:off x="6670623" y="1978702"/>
            <a:ext cx="4881407" cy="4320222"/>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The area under the curve (AUC) for Class-Balanced Data is higher than Class-Imbalanced Data.</a:t>
            </a: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 performs very well when the dataset is balanced. </a:t>
            </a:r>
            <a:endParaRPr lang="en-ID" sz="2000" dirty="0">
              <a:latin typeface="Times New Roman" panose="02020603050405020304" pitchFamily="18" charset="0"/>
              <a:ea typeface="Calibri" panose="020F0502020204030204" pitchFamily="34" charset="0"/>
            </a:endParaRP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model's true inability to predict the minority class becomes obvious, with a significant drop in AUC from 0.97 to 0.31.</a:t>
            </a:r>
            <a:endParaRPr lang="en-ID" sz="2000" b="1" dirty="0">
              <a:effectLst/>
              <a:latin typeface="Times New Roman" panose="02020603050405020304" pitchFamily="18" charset="0"/>
              <a:ea typeface="Calibri" panose="020F0502020204030204" pitchFamily="34" charset="0"/>
            </a:endParaRPr>
          </a:p>
        </p:txBody>
      </p:sp>
      <p:sp>
        <p:nvSpPr>
          <p:cNvPr id="8" name="TextBox 7">
            <a:extLst>
              <a:ext uri="{FF2B5EF4-FFF2-40B4-BE49-F238E27FC236}">
                <a16:creationId xmlns:a16="http://schemas.microsoft.com/office/drawing/2014/main" id="{CC606441-4CFF-EB05-F83A-2ACB7EA609EE}"/>
              </a:ext>
            </a:extLst>
          </p:cNvPr>
          <p:cNvSpPr txBox="1"/>
          <p:nvPr/>
        </p:nvSpPr>
        <p:spPr>
          <a:xfrm>
            <a:off x="515522" y="1158032"/>
            <a:ext cx="11310078" cy="873572"/>
          </a:xfrm>
          <a:prstGeom prst="rect">
            <a:avLst/>
          </a:prstGeom>
          <a:noFill/>
        </p:spPr>
        <p:txBody>
          <a:bodyPr wrap="square">
            <a:spAutoFit/>
          </a:bodyPr>
          <a:lstStyle/>
          <a:p>
            <a:pPr algn="just">
              <a:lnSpc>
                <a:spcPct val="150000"/>
              </a:lnSpc>
            </a:pPr>
            <a:r>
              <a:rPr lang="en-US" sz="1800" dirty="0">
                <a:effectLst/>
                <a:latin typeface="Times New Roman" panose="02020603050405020304" pitchFamily="18" charset="0"/>
                <a:ea typeface="Calibri" panose="020F0502020204030204" pitchFamily="34" charset="0"/>
              </a:rPr>
              <a:t>A low AUC value means that the prediction for the class is poor and has bias. A high AUC value means that the prediction for the class is good and has no bias.</a:t>
            </a:r>
            <a:endParaRPr lang="en-ID" sz="1800" dirty="0">
              <a:effectLst/>
              <a:latin typeface="Times New Roman" panose="02020603050405020304" pitchFamily="18" charset="0"/>
              <a:ea typeface="Calibri" panose="020F0502020204030204" pitchFamily="34" charset="0"/>
            </a:endParaRPr>
          </a:p>
        </p:txBody>
      </p:sp>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54E63-E4A0-B118-6B85-4945A0BF1FF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C479B9E-7E64-C434-C4D8-BA2E1C0F326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Small size Dataset</a:t>
            </a:r>
          </a:p>
        </p:txBody>
      </p:sp>
    </p:spTree>
    <p:extLst>
      <p:ext uri="{BB962C8B-B14F-4D97-AF65-F5344CB8AC3E}">
        <p14:creationId xmlns:p14="http://schemas.microsoft.com/office/powerpoint/2010/main" val="3906800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869431"/>
            <a:ext cx="3926851" cy="1506510"/>
          </a:xfrm>
        </p:spPr>
        <p:txBody>
          <a:bodyPr vert="horz" lIns="91440" tIns="45720" rIns="91440" bIns="45720" rtlCol="0" anchor="b" anchorCtr="0">
            <a:normAutofit fontScale="90000"/>
          </a:bodyPr>
          <a:lstStyle/>
          <a:p>
            <a:pPr>
              <a:lnSpc>
                <a:spcPct val="90000"/>
              </a:lnSpc>
            </a:pPr>
            <a:r>
              <a:rPr lang="en-US" b="1" dirty="0"/>
              <a:t>Small and </a:t>
            </a:r>
            <a:br>
              <a:rPr lang="en-US" b="1" dirty="0"/>
            </a:br>
            <a:r>
              <a:rPr lang="en-US" b="1" dirty="0"/>
              <a:t>Class-Balanced Dataset</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813451" y="5026512"/>
            <a:ext cx="10025098" cy="1149515"/>
          </a:xfrm>
          <a:prstGeom prst="rect">
            <a:avLst/>
          </a:prstGeom>
        </p:spPr>
      </p:pic>
      <p:sp>
        <p:nvSpPr>
          <p:cNvPr id="4" name="TextBox 3">
            <a:extLst>
              <a:ext uri="{FF2B5EF4-FFF2-40B4-BE49-F238E27FC236}">
                <a16:creationId xmlns:a16="http://schemas.microsoft.com/office/drawing/2014/main" id="{96B6AB66-DD95-73D9-CBC7-5A3896832169}"/>
              </a:ext>
            </a:extLst>
          </p:cNvPr>
          <p:cNvSpPr txBox="1"/>
          <p:nvPr/>
        </p:nvSpPr>
        <p:spPr>
          <a:xfrm>
            <a:off x="670668" y="2570637"/>
            <a:ext cx="5203072" cy="1715278"/>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The model can considering all features. </a:t>
            </a:r>
          </a:p>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Both features contribute to all classes. No class was ignored. </a:t>
            </a:r>
            <a:endParaRPr lang="en-ID" sz="2000" b="1"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866709"/>
          </a:xfrm>
        </p:spPr>
        <p:txBody>
          <a:bodyPr vert="horz" lIns="91440" tIns="45720" rIns="91440" bIns="45720" rtlCol="0" anchor="b" anchorCtr="0">
            <a:normAutofit fontScale="90000"/>
          </a:bodyPr>
          <a:lstStyle/>
          <a:p>
            <a:pPr>
              <a:lnSpc>
                <a:spcPct val="90000"/>
              </a:lnSpc>
            </a:pPr>
            <a:r>
              <a:rPr lang="en-US" sz="4100" b="1" dirty="0"/>
              <a:t>Small and </a:t>
            </a:r>
            <a:br>
              <a:rPr lang="en-US" sz="4100" b="1" dirty="0"/>
            </a:br>
            <a:r>
              <a:rPr lang="en-US" sz="4100" b="1" dirty="0"/>
              <a:t>Class-Imbalanced Dataset</a:t>
            </a:r>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68710" y="5104855"/>
            <a:ext cx="10970360" cy="1229645"/>
          </a:xfrm>
          <a:prstGeom prst="rect">
            <a:avLst/>
          </a:prstGeom>
        </p:spPr>
      </p:pic>
      <p:sp>
        <p:nvSpPr>
          <p:cNvPr id="3" name="TextBox 2">
            <a:extLst>
              <a:ext uri="{FF2B5EF4-FFF2-40B4-BE49-F238E27FC236}">
                <a16:creationId xmlns:a16="http://schemas.microsoft.com/office/drawing/2014/main" id="{185A9F35-EA32-2596-6901-F12063C37122}"/>
              </a:ext>
            </a:extLst>
          </p:cNvPr>
          <p:cNvSpPr txBox="1"/>
          <p:nvPr/>
        </p:nvSpPr>
        <p:spPr>
          <a:xfrm>
            <a:off x="475089" y="2459504"/>
            <a:ext cx="5218692" cy="1938992"/>
          </a:xfrm>
          <a:prstGeom prst="rect">
            <a:avLst/>
          </a:prstGeom>
          <a:noFill/>
        </p:spPr>
        <p:txBody>
          <a:bodyPr wrap="square">
            <a:spAutoFit/>
          </a:bodyPr>
          <a:lstStyle/>
          <a:p>
            <a:r>
              <a:rPr lang="en-US" sz="2000" dirty="0">
                <a:effectLst/>
                <a:latin typeface="Arial" panose="020B0604020202020204" pitchFamily="34" charset="0"/>
                <a:ea typeface="Calibri" panose="020F0502020204030204" pitchFamily="34" charset="0"/>
                <a:cs typeface="Arial" panose="020B0604020202020204" pitchFamily="34" charset="0"/>
              </a:rPr>
              <a:t>There is a bias in class-imbalanced dataset. But the </a:t>
            </a:r>
            <a:r>
              <a:rPr lang="en-US" sz="2000" b="1" dirty="0">
                <a:effectLst/>
                <a:latin typeface="Arial" panose="020B0604020202020204" pitchFamily="34" charset="0"/>
                <a:ea typeface="Calibri" panose="020F0502020204030204" pitchFamily="34" charset="0"/>
                <a:cs typeface="Arial" panose="020B0604020202020204" pitchFamily="34" charset="0"/>
              </a:rPr>
              <a:t>small sample size can’t detect it</a:t>
            </a:r>
            <a:r>
              <a:rPr lang="en-US" sz="2000" dirty="0">
                <a:effectLst/>
                <a:latin typeface="Arial" panose="020B0604020202020204" pitchFamily="34" charset="0"/>
                <a:ea typeface="Calibri" panose="020F0502020204030204" pitchFamily="34" charset="0"/>
                <a:cs typeface="Arial" panose="020B0604020202020204" pitchFamily="34" charset="0"/>
              </a:rPr>
              <a:t>.</a:t>
            </a:r>
          </a:p>
          <a:p>
            <a:endParaRPr lang="en-US" sz="2000" dirty="0">
              <a:latin typeface="Arial" panose="020B0604020202020204" pitchFamily="34" charset="0"/>
              <a:ea typeface="Calibri" panose="020F0502020204030204" pitchFamily="34" charset="0"/>
              <a:cs typeface="Arial" panose="020B0604020202020204" pitchFamily="34" charset="0"/>
            </a:endParaRPr>
          </a:p>
          <a:p>
            <a:r>
              <a:rPr lang="en-US" sz="2000" dirty="0">
                <a:effectLst/>
                <a:latin typeface="Arial" panose="020B0604020202020204" pitchFamily="34" charset="0"/>
                <a:ea typeface="Calibri" panose="020F0502020204030204" pitchFamily="34" charset="0"/>
                <a:cs typeface="Arial" panose="020B0604020202020204" pitchFamily="34" charset="0"/>
              </a:rPr>
              <a:t>In small sample size, the performance metrics </a:t>
            </a:r>
            <a:r>
              <a:rPr lang="en-US" sz="2000" b="1" dirty="0">
                <a:effectLst/>
                <a:latin typeface="Arial" panose="020B0604020202020204" pitchFamily="34" charset="0"/>
                <a:ea typeface="Calibri" panose="020F0502020204030204" pitchFamily="34" charset="0"/>
                <a:cs typeface="Arial" panose="020B0604020202020204" pitchFamily="34" charset="0"/>
              </a:rPr>
              <a:t>fakes</a:t>
            </a:r>
            <a:r>
              <a:rPr lang="en-US" sz="2000" dirty="0">
                <a:effectLst/>
                <a:latin typeface="Arial" panose="020B0604020202020204" pitchFamily="34" charset="0"/>
                <a:ea typeface="Calibri" panose="020F0502020204030204" pitchFamily="34" charset="0"/>
                <a:cs typeface="Arial" panose="020B0604020202020204" pitchFamily="34" charset="0"/>
              </a:rPr>
              <a:t> the bias on class-imbalanced dataset.</a:t>
            </a:r>
            <a:endParaRPr lang="en-ID" dirty="0"/>
          </a:p>
        </p:txBody>
      </p:sp>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sample size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4661750" y="1711690"/>
            <a:ext cx="6988518" cy="4616037"/>
          </a:xfrm>
          <a:prstGeom prst="rect">
            <a:avLst/>
          </a:prstGeom>
        </p:spPr>
      </p:pic>
      <p:sp>
        <p:nvSpPr>
          <p:cNvPr id="4" name="TextBox 3">
            <a:extLst>
              <a:ext uri="{FF2B5EF4-FFF2-40B4-BE49-F238E27FC236}">
                <a16:creationId xmlns:a16="http://schemas.microsoft.com/office/drawing/2014/main" id="{1FEF6F63-8CDB-7B4E-9E7F-033AEE33889D}"/>
              </a:ext>
            </a:extLst>
          </p:cNvPr>
          <p:cNvSpPr txBox="1"/>
          <p:nvPr/>
        </p:nvSpPr>
        <p:spPr>
          <a:xfrm>
            <a:off x="541733" y="1845329"/>
            <a:ext cx="3850018" cy="1938992"/>
          </a:xfrm>
          <a:prstGeom prst="rect">
            <a:avLst/>
          </a:prstGeom>
          <a:noFill/>
        </p:spPr>
        <p:txBody>
          <a:bodyPr wrap="square">
            <a:spAutoFit/>
          </a:bodyPr>
          <a:lstStyle/>
          <a:p>
            <a:r>
              <a:rPr lang="en-US" sz="2400" b="1" dirty="0">
                <a:effectLst/>
                <a:latin typeface="Arial" panose="020B0604020202020204" pitchFamily="34" charset="0"/>
                <a:ea typeface="Calibri" panose="020F0502020204030204" pitchFamily="34" charset="0"/>
                <a:cs typeface="Arial" panose="020B0604020202020204" pitchFamily="34" charset="0"/>
              </a:rPr>
              <a:t>Smaller sample sizes can fake the bias of class imbalance</a:t>
            </a:r>
            <a:r>
              <a:rPr lang="en-US" sz="2400" dirty="0">
                <a:effectLst/>
                <a:latin typeface="Arial" panose="020B0604020202020204" pitchFamily="34" charset="0"/>
                <a:ea typeface="Calibri" panose="020F0502020204030204" pitchFamily="34" charset="0"/>
                <a:cs typeface="Arial" panose="020B0604020202020204" pitchFamily="34" charset="0"/>
              </a:rPr>
              <a:t>, </a:t>
            </a:r>
          </a:p>
          <a:p>
            <a:r>
              <a:rPr lang="en-US" sz="2400" dirty="0">
                <a:effectLst/>
                <a:latin typeface="Arial" panose="020B0604020202020204" pitchFamily="34" charset="0"/>
                <a:ea typeface="Calibri" panose="020F0502020204030204" pitchFamily="34" charset="0"/>
                <a:cs typeface="Arial" panose="020B0604020202020204" pitchFamily="34" charset="0"/>
              </a:rPr>
              <a:t>making fake perception of model fairness. </a:t>
            </a:r>
            <a:endParaRPr lang="en-ID"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extLst>
              <p:ext uri="{D42A27DB-BD31-4B8C-83A1-F6EECF244321}">
                <p14:modId xmlns:p14="http://schemas.microsoft.com/office/powerpoint/2010/main" val="2408834885"/>
              </p:ext>
            </p:extLst>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143746540"/>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9753499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799904" y="1508286"/>
            <a:ext cx="10592192" cy="4385816"/>
          </a:xfrm>
          <a:prstGeom prst="rect">
            <a:avLst/>
          </a:prstGeom>
          <a:noFill/>
        </p:spPr>
        <p:txBody>
          <a:bodyPr wrap="square">
            <a:spAutoFit/>
          </a:bodyPr>
          <a:lstStyle/>
          <a:p>
            <a:pPr algn="just">
              <a:lnSpc>
                <a:spcPct val="150000"/>
              </a:lnSpc>
            </a:pPr>
            <a:r>
              <a:rPr lang="en-US" dirty="0">
                <a:effectLst/>
                <a:latin typeface="Arial" panose="020B0604020202020204" pitchFamily="34" charset="0"/>
                <a:ea typeface="Calibri" panose="020F0502020204030204" pitchFamily="34" charset="0"/>
                <a:cs typeface="Arial" panose="020B0604020202020204" pitchFamily="34" charset="0"/>
              </a:rPr>
              <a:t>This research found the important and needs for more data documentation standard in Responsible AI practices. Usually, AI fairness has focused on model transparency and explainability, but this research shows that documenting dataset composition is also very important. </a:t>
            </a:r>
          </a:p>
          <a:p>
            <a:pPr algn="just">
              <a:lnSpc>
                <a:spcPct val="150000"/>
              </a:lnSpc>
            </a:pPr>
            <a:endParaRPr lang="en-ID" dirty="0">
              <a:effectLst/>
              <a:latin typeface="Arial" panose="020B0604020202020204" pitchFamily="34" charset="0"/>
              <a:ea typeface="Calibri" panose="020F0502020204030204" pitchFamily="34" charset="0"/>
              <a:cs typeface="Arial" panose="020B0604020202020204" pitchFamily="34" charset="0"/>
            </a:endParaRPr>
          </a:p>
          <a:p>
            <a:pPr algn="just">
              <a:lnSpc>
                <a:spcPct val="150000"/>
              </a:lnSpc>
            </a:pPr>
            <a:r>
              <a:rPr lang="en-US" dirty="0">
                <a:effectLst/>
                <a:latin typeface="Arial" panose="020B0604020202020204" pitchFamily="34" charset="0"/>
                <a:ea typeface="Calibri" panose="020F0502020204030204" pitchFamily="34" charset="0"/>
                <a:cs typeface="Arial" panose="020B0604020202020204" pitchFamily="34" charset="0"/>
              </a:rPr>
              <a:t>By not addressing dataset homogeneity/ imbalance and how small sample sizes is, the biases can go undetected, and then leading to discriminative result in critical decision-making processes.</a:t>
            </a:r>
          </a:p>
          <a:p>
            <a:pPr algn="just">
              <a:lnSpc>
                <a:spcPct val="150000"/>
              </a:lnSpc>
            </a:pPr>
            <a:endParaRPr lang="en-ID" dirty="0">
              <a:effectLst/>
              <a:latin typeface="Arial" panose="020B0604020202020204" pitchFamily="34" charset="0"/>
              <a:ea typeface="Calibri" panose="020F0502020204030204" pitchFamily="34" charset="0"/>
              <a:cs typeface="Arial" panose="020B0604020202020204" pitchFamily="34" charset="0"/>
            </a:endParaRPr>
          </a:p>
          <a:p>
            <a:pPr algn="just">
              <a:lnSpc>
                <a:spcPct val="150000"/>
              </a:lnSpc>
            </a:pPr>
            <a:r>
              <a:rPr lang="en-ID" dirty="0">
                <a:effectLst/>
                <a:latin typeface="Arial" panose="020B0604020202020204" pitchFamily="34" charset="0"/>
                <a:ea typeface="Calibri" panose="020F0502020204030204" pitchFamily="34" charset="0"/>
                <a:cs typeface="Arial" panose="020B0604020202020204" pitchFamily="34" charset="0"/>
              </a:rPr>
              <a:t>The study underlines the importance of moving beyond model explainability. Transparency at both the model and dataset levels is essential for building fair AI systems.</a:t>
            </a:r>
          </a:p>
          <a:p>
            <a:pPr lvl="0"/>
            <a:endParaRPr lang="en-US" dirty="0">
              <a:latin typeface="Arial" panose="020B0604020202020204" pitchFamily="34" charset="0"/>
              <a:cs typeface="Arial" panose="020B0604020202020204" pitchFamily="34" charset="0"/>
            </a:endParaRPr>
          </a:p>
          <a:p>
            <a:pPr lvl="0"/>
            <a:endParaRPr lang="en-ID" dirty="0">
              <a:latin typeface="Arial" panose="020B0604020202020204" pitchFamily="34" charset="0"/>
              <a:cs typeface="Arial" panose="020B0604020202020204" pitchFamily="34" charset="0"/>
            </a:endParaRPr>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ID" sz="3600" b="1" dirty="0">
                <a:latin typeface="Arial" panose="020B0604020202020204" pitchFamily="34" charset="0"/>
                <a:cs typeface="Arial" panose="020B0604020202020204" pitchFamily="34" charset="0"/>
              </a:rPr>
              <a:t>Broader Impact on XAI</a:t>
            </a:r>
            <a:endParaRPr lang="en-US" sz="2400" kern="1200" cap="none" spc="0" baseline="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519</TotalTime>
  <Words>1782</Words>
  <Application>Microsoft Office PowerPoint</Application>
  <PresentationFormat>Widescreen</PresentationFormat>
  <Paragraphs>141</Paragraphs>
  <Slides>30</Slides>
  <Notes>30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  </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Large Size Dataset</vt:lpstr>
      <vt:lpstr>Large and  Class-Balanced Dataset</vt:lpstr>
      <vt:lpstr>Large and  Class-Imbalanced Dataset</vt:lpstr>
      <vt:lpstr>Large Size Dataset Comparison</vt:lpstr>
      <vt:lpstr>Small size Dataset</vt:lpstr>
      <vt:lpstr>Small and  Class-Balanced Dataset</vt:lpstr>
      <vt:lpstr>Small and  Class-Imbalanced Dataset</vt:lpstr>
      <vt:lpstr>Small sample size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Broader Impact on XAI</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200</cp:revision>
  <dcterms:created xsi:type="dcterms:W3CDTF">2024-11-01T12:30:02Z</dcterms:created>
  <dcterms:modified xsi:type="dcterms:W3CDTF">2024-11-23T09:41:26Z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