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3"/>
  </p:notesMasterIdLst>
  <p:handoutMasterIdLst>
    <p:handoutMasterId r:id="rId34"/>
  </p:handoutMasterIdLst>
  <p:sldIdLst>
    <p:sldId id="347" r:id="rId5"/>
    <p:sldId id="328" r:id="rId6"/>
    <p:sldId id="257" r:id="rId7"/>
    <p:sldId id="349" r:id="rId8"/>
    <p:sldId id="262" r:id="rId9"/>
    <p:sldId id="313" r:id="rId10"/>
    <p:sldId id="322" r:id="rId11"/>
    <p:sldId id="329" r:id="rId12"/>
    <p:sldId id="330" r:id="rId13"/>
    <p:sldId id="323" r:id="rId14"/>
    <p:sldId id="332" r:id="rId15"/>
    <p:sldId id="324" r:id="rId16"/>
    <p:sldId id="334" r:id="rId17"/>
    <p:sldId id="335" r:id="rId18"/>
    <p:sldId id="338" r:id="rId19"/>
    <p:sldId id="336" r:id="rId20"/>
    <p:sldId id="337" r:id="rId21"/>
    <p:sldId id="340" r:id="rId22"/>
    <p:sldId id="260" r:id="rId23"/>
    <p:sldId id="325" r:id="rId24"/>
    <p:sldId id="341" r:id="rId25"/>
    <p:sldId id="342" r:id="rId26"/>
    <p:sldId id="326" r:id="rId27"/>
    <p:sldId id="344" r:id="rId28"/>
    <p:sldId id="345" r:id="rId29"/>
    <p:sldId id="327" r:id="rId30"/>
    <p:sldId id="346" r:id="rId31"/>
    <p:sldId id="26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99" autoAdjust="0"/>
    <p:restoredTop sz="95660" autoAdjust="0"/>
  </p:normalViewPr>
  <p:slideViewPr>
    <p:cSldViewPr snapToGrid="0">
      <p:cViewPr varScale="1">
        <p:scale>
          <a:sx n="97" d="100"/>
          <a:sy n="97" d="100"/>
        </p:scale>
        <p:origin x="255" y="57"/>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dirty="0"/>
            <a:t>Accuracy</a:t>
          </a:r>
          <a:r>
            <a:rPr lang="en-US" dirty="0"/>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dirty="0"/>
            <a:t>Precision</a:t>
          </a:r>
          <a:r>
            <a:rPr lang="en-US" dirty="0"/>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dirty="0"/>
            <a:t>Recall </a:t>
          </a:r>
          <a:r>
            <a:rPr lang="en-US" dirty="0"/>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dirty="0"/>
            <a:t>F1-score</a:t>
          </a:r>
          <a:r>
            <a:rPr lang="en-US" dirty="0"/>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dirty="0"/>
            <a:t>AUC-PR is </a:t>
          </a:r>
          <a:r>
            <a:rPr lang="en-US" b="0" dirty="0"/>
            <a:t>PRECISION-RECALL curve</a:t>
          </a:r>
          <a:r>
            <a:rPr lang="en-US" b="1" dirty="0"/>
            <a:t>, </a:t>
          </a:r>
          <a:r>
            <a:rPr lang="en-US" b="0" dirty="0"/>
            <a:t>SHOWS</a:t>
          </a:r>
          <a:r>
            <a:rPr lang="en-US" b="1" dirty="0"/>
            <a:t> </a:t>
          </a:r>
          <a:r>
            <a:rPr lang="en-ID" dirty="0"/>
            <a:t>overall performance of the model.</a:t>
          </a:r>
        </a:p>
        <a:p>
          <a:pPr>
            <a:lnSpc>
              <a:spcPct val="100000"/>
            </a:lnSpc>
            <a:defRPr cap="all"/>
          </a:pPr>
          <a:r>
            <a:rPr lang="en-ID" dirty="0"/>
            <a:t>A higher AUC value indicates better performance.</a:t>
          </a:r>
          <a:endParaRPr lang="en-US" dirty="0"/>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a:t>Small Balance </a:t>
          </a:r>
          <a:r>
            <a:rPr lang="en-US"/>
            <a:t>Datasets</a:t>
          </a:r>
          <a:r>
            <a:rPr lang="en-US" b="1"/>
            <a:t> </a:t>
          </a:r>
          <a:r>
            <a:rPr lang="en-US"/>
            <a:t>(n = 10000) vs </a:t>
          </a:r>
          <a:r>
            <a:rPr lang="en-US" b="1"/>
            <a:t>Large Balanced </a:t>
          </a:r>
          <a:r>
            <a:rPr lang="en-US"/>
            <a:t>Datasets (n = 10000)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a:t>Small Imbalance </a:t>
          </a:r>
          <a:r>
            <a:rPr lang="en-US"/>
            <a:t>Datasets (n = 10000) vs </a:t>
          </a:r>
          <a:r>
            <a:rPr lang="en-US" b="1"/>
            <a:t>Large Imbalanced</a:t>
          </a:r>
          <a:r>
            <a:rPr lang="en-US"/>
            <a:t> Datasets (n = 10000)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dirty="0"/>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dirty="0"/>
            <a:t>Documenting dataset composition increased the AI model transparency and fairness. </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a:t>Large data set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a:t>In small and imbalanced datasets, model often shows a fake high performances metrics, gives 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Dataset Imbalance</a:t>
          </a:r>
          <a:r>
            <a:rPr lang="en-ID" dirty="0"/>
            <a:t>: An imbalanced data set results in bias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a:t>Impact of Sample Size</a:t>
          </a:r>
          <a:r>
            <a:rPr lang="en-ID"/>
            <a:t>: Small sample size gave misleading impression of fairness, because it can fakely increase the model's performance on minority classes, when in fact it does not.</a:t>
          </a:r>
          <a:endParaRPr lang="en-US"/>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dirty="0"/>
            <a:t>Bias Evaluation</a:t>
          </a:r>
          <a:r>
            <a:rPr lang="en-ID" dirty="0"/>
            <a:t>: The findings showed that the bias evaluation is failed when using imbalanced and small data sets</a:t>
          </a:r>
          <a:endParaRPr lang="en-US" dirty="0"/>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BAD022D3-8BC5-41F9-BC30-8B53D060B15F}" type="presOf" srcId="{A1613094-5CFF-4A74-8C6A-A551AE41366E}" destId="{7A1E097E-AC4F-4444-9BA8-5ABC7AE88FAE}" srcOrd="0" destOrd="0" presId="urn:microsoft.com/office/officeart/2018/2/layout/IconVerticalSolidList"/>
    <dgm:cxn modelId="{A84F7FDC-8E07-4032-AD52-B655566BE112}" type="presOf" srcId="{760B39DB-0861-48C3-94EB-B7471569B6A2}" destId="{83562C27-9F3C-4420-944A-68C63CC62A02}" srcOrd="0" destOrd="0" presId="urn:microsoft.com/office/officeart/2018/2/layout/IconVerticalSolidList"/>
    <dgm:cxn modelId="{098FDEE9-A913-484A-92FA-7A001A555886}" type="presOf" srcId="{CD57BDD4-0187-4512-9439-A888C96991F8}" destId="{05919154-356F-48B6-BDDF-14BC396FEB53}"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 few types of data characteristics, which are only data homogeneity and 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logistic regression 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synthetic (artificial) datasets.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BAD022D3-8BC5-41F9-BC30-8B53D060B15F}" type="presOf" srcId="{A1613094-5CFF-4A74-8C6A-A551AE41366E}" destId="{7A1E097E-AC4F-4444-9BA8-5ABC7AE88FAE}" srcOrd="0" destOrd="0" presId="urn:microsoft.com/office/officeart/2018/2/layout/IconVerticalSolidList"/>
    <dgm:cxn modelId="{A84F7FDC-8E07-4032-AD52-B655566BE112}" type="presOf" srcId="{760B39DB-0861-48C3-94EB-B7471569B6A2}" destId="{83562C27-9F3C-4420-944A-68C63CC62A02}" srcOrd="0" destOrd="0" presId="urn:microsoft.com/office/officeart/2018/2/layout/IconVerticalSolidList"/>
    <dgm:cxn modelId="{098FDEE9-A913-484A-92FA-7A001A555886}" type="presOf" srcId="{CD57BDD4-0187-4512-9439-A888C96991F8}" destId="{05919154-356F-48B6-BDDF-14BC396FEB53}"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Under-sampling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dirty="0"/>
            <a:t>investigate how the differences in the dataset’s characteristics such as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custLinFactNeighborX="-202">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386059"/>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62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Accuracy</a:t>
          </a:r>
          <a:r>
            <a:rPr lang="en-US" sz="1100" kern="1200" dirty="0"/>
            <a:t> shows the overall correctness of the model.</a:t>
          </a:r>
        </a:p>
      </dsp:txBody>
      <dsp:txXfrm>
        <a:off x="424837" y="1826059"/>
        <a:ext cx="1800000" cy="1260000"/>
      </dsp:txXfrm>
    </dsp:sp>
    <dsp:sp modelId="{EEA500C7-4ADB-4DFF-856D-8776E2A0BA63}">
      <dsp:nvSpPr>
        <dsp:cNvPr id="0" name=""/>
        <dsp:cNvSpPr/>
      </dsp:nvSpPr>
      <dsp:spPr>
        <a:xfrm>
          <a:off x="2890837" y="386059"/>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62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Precision</a:t>
          </a:r>
          <a:r>
            <a:rPr lang="en-US" sz="1100" kern="1200" dirty="0"/>
            <a:t> is a metric that measures how often a predicted label is correct.</a:t>
          </a:r>
        </a:p>
      </dsp:txBody>
      <dsp:txXfrm>
        <a:off x="2539837" y="1826059"/>
        <a:ext cx="1800000" cy="1260000"/>
      </dsp:txXfrm>
    </dsp:sp>
    <dsp:sp modelId="{A383093D-694B-423C-A9B1-CB6BB223CE26}">
      <dsp:nvSpPr>
        <dsp:cNvPr id="0" name=""/>
        <dsp:cNvSpPr/>
      </dsp:nvSpPr>
      <dsp:spPr>
        <a:xfrm>
          <a:off x="5005837" y="386059"/>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62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Recall </a:t>
          </a:r>
          <a:r>
            <a:rPr lang="en-US" sz="1100" kern="1200" dirty="0"/>
            <a:t>is a metric that measures how often a true label is correctly predicted.</a:t>
          </a:r>
        </a:p>
      </dsp:txBody>
      <dsp:txXfrm>
        <a:off x="4654837" y="1826059"/>
        <a:ext cx="1800000" cy="1260000"/>
      </dsp:txXfrm>
    </dsp:sp>
    <dsp:sp modelId="{1B858E88-C691-441E-867F-3354B80D5029}">
      <dsp:nvSpPr>
        <dsp:cNvPr id="0" name=""/>
        <dsp:cNvSpPr/>
      </dsp:nvSpPr>
      <dsp:spPr>
        <a:xfrm>
          <a:off x="7120837" y="386059"/>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62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F1-score</a:t>
          </a:r>
          <a:r>
            <a:rPr lang="en-US" sz="1100" kern="1200" dirty="0"/>
            <a:t> is the harmonic mean of precision and recall.</a:t>
          </a:r>
        </a:p>
      </dsp:txBody>
      <dsp:txXfrm>
        <a:off x="6769837" y="1826059"/>
        <a:ext cx="1800000" cy="1260000"/>
      </dsp:txXfrm>
    </dsp:sp>
    <dsp:sp modelId="{6A68A31A-53ED-4C2D-A842-171494C9FF8C}">
      <dsp:nvSpPr>
        <dsp:cNvPr id="0" name=""/>
        <dsp:cNvSpPr/>
      </dsp:nvSpPr>
      <dsp:spPr>
        <a:xfrm>
          <a:off x="9235837" y="386059"/>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62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AUC-PR is </a:t>
          </a:r>
          <a:r>
            <a:rPr lang="en-US" sz="1100" b="0" kern="1200" dirty="0"/>
            <a:t>PRECISION-RECALL curve</a:t>
          </a:r>
          <a:r>
            <a:rPr lang="en-US" sz="1100" b="1" kern="1200" dirty="0"/>
            <a:t>, </a:t>
          </a:r>
          <a:r>
            <a:rPr lang="en-US" sz="1100" b="0" kern="1200" dirty="0"/>
            <a:t>SHOWS</a:t>
          </a:r>
          <a:r>
            <a:rPr lang="en-US" sz="1100" b="1" kern="1200" dirty="0"/>
            <a:t> </a:t>
          </a:r>
          <a:r>
            <a:rPr lang="en-ID" sz="1100" kern="1200" dirty="0"/>
            <a:t>overall performance of the model.</a:t>
          </a:r>
        </a:p>
        <a:p>
          <a:pPr marL="0" lvl="0" indent="0" algn="ctr" defTabSz="488950">
            <a:lnSpc>
              <a:spcPct val="100000"/>
            </a:lnSpc>
            <a:spcBef>
              <a:spcPct val="0"/>
            </a:spcBef>
            <a:spcAft>
              <a:spcPct val="35000"/>
            </a:spcAft>
            <a:buNone/>
            <a:defRPr cap="all"/>
          </a:pPr>
          <a:r>
            <a:rPr lang="en-ID" sz="1100" kern="1200" dirty="0"/>
            <a:t>A higher AUC value indicates better performance.</a:t>
          </a:r>
          <a:endParaRPr lang="en-US" sz="1100" kern="1200" dirty="0"/>
        </a:p>
      </dsp:txBody>
      <dsp:txXfrm>
        <a:off x="8884837" y="1826059"/>
        <a:ext cx="1800000" cy="126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306"/>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13040" y="161766"/>
          <a:ext cx="387347" cy="38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813428" y="3306"/>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813428" y="3306"/>
        <a:ext cx="10525273" cy="704267"/>
      </dsp:txXfrm>
    </dsp:sp>
    <dsp:sp modelId="{6356869F-88D1-46BC-AC80-815742378100}">
      <dsp:nvSpPr>
        <dsp:cNvPr id="0" name=""/>
        <dsp:cNvSpPr/>
      </dsp:nvSpPr>
      <dsp:spPr>
        <a:xfrm>
          <a:off x="0" y="883640"/>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13040" y="1042101"/>
          <a:ext cx="387347" cy="38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813428" y="883640"/>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b="1" kern="1200"/>
            <a:t>Small Balance </a:t>
          </a:r>
          <a:r>
            <a:rPr lang="en-US" sz="1900" kern="1200"/>
            <a:t>Datasets</a:t>
          </a:r>
          <a:r>
            <a:rPr lang="en-US" sz="1900" b="1" kern="1200"/>
            <a:t> </a:t>
          </a:r>
          <a:r>
            <a:rPr lang="en-US" sz="1900" kern="1200"/>
            <a:t>(n = 10000) vs </a:t>
          </a:r>
          <a:r>
            <a:rPr lang="en-US" sz="1900" b="1" kern="1200"/>
            <a:t>Large Balanced </a:t>
          </a:r>
          <a:r>
            <a:rPr lang="en-US" sz="1900" kern="1200"/>
            <a:t>Datasets (n = 10000)</a:t>
          </a:r>
        </a:p>
      </dsp:txBody>
      <dsp:txXfrm>
        <a:off x="813428" y="883640"/>
        <a:ext cx="10525273" cy="704267"/>
      </dsp:txXfrm>
    </dsp:sp>
    <dsp:sp modelId="{173985AF-D1B4-4A73-9272-C2429E6FF0E5}">
      <dsp:nvSpPr>
        <dsp:cNvPr id="0" name=""/>
        <dsp:cNvSpPr/>
      </dsp:nvSpPr>
      <dsp:spPr>
        <a:xfrm>
          <a:off x="0" y="1763975"/>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13040" y="1922435"/>
          <a:ext cx="387347" cy="38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813428" y="1763975"/>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b="1" kern="1200"/>
            <a:t>Small Imbalance </a:t>
          </a:r>
          <a:r>
            <a:rPr lang="en-US" sz="1900" kern="1200"/>
            <a:t>Datasets (n = 10000) vs </a:t>
          </a:r>
          <a:r>
            <a:rPr lang="en-US" sz="1900" b="1" kern="1200"/>
            <a:t>Large Imbalanced</a:t>
          </a:r>
          <a:r>
            <a:rPr lang="en-US" sz="1900" kern="1200"/>
            <a:t> Datasets (n = 10000) </a:t>
          </a:r>
        </a:p>
      </dsp:txBody>
      <dsp:txXfrm>
        <a:off x="813428" y="1763975"/>
        <a:ext cx="10525273" cy="704267"/>
      </dsp:txXfrm>
    </dsp:sp>
    <dsp:sp modelId="{A50CC19D-A895-4438-9C40-D511A5CCB577}">
      <dsp:nvSpPr>
        <dsp:cNvPr id="0" name=""/>
        <dsp:cNvSpPr/>
      </dsp:nvSpPr>
      <dsp:spPr>
        <a:xfrm>
          <a:off x="0" y="2644309"/>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13040" y="2802769"/>
          <a:ext cx="387347" cy="387347"/>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813428" y="2644309"/>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813428" y="2644309"/>
        <a:ext cx="10525273" cy="704267"/>
      </dsp:txXfrm>
    </dsp:sp>
    <dsp:sp modelId="{5316A4F7-90AC-45B7-AD11-5CF29133E80A}">
      <dsp:nvSpPr>
        <dsp:cNvPr id="0" name=""/>
        <dsp:cNvSpPr/>
      </dsp:nvSpPr>
      <dsp:spPr>
        <a:xfrm>
          <a:off x="0" y="3524644"/>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13040" y="3683104"/>
          <a:ext cx="387347" cy="387347"/>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813428" y="3524644"/>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dirty="0"/>
            <a:t>LIME (local interpretable model-agnostic explanations) </a:t>
          </a:r>
        </a:p>
      </dsp:txBody>
      <dsp:txXfrm>
        <a:off x="813428" y="3524644"/>
        <a:ext cx="10525273" cy="70426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Documenting dataset composition increased the AI model transparency and fairness. </a:t>
          </a:r>
        </a:p>
      </dsp:txBody>
      <dsp:txXfrm>
        <a:off x="1396290" y="516"/>
        <a:ext cx="3900487" cy="1208909"/>
      </dsp:txXfrm>
    </dsp:sp>
    <dsp:sp modelId="{414F4BC7-70EA-4594-B18E-D2F1B122F205}">
      <dsp:nvSpPr>
        <dsp:cNvPr id="0" name=""/>
        <dsp:cNvSpPr/>
      </dsp:nvSpPr>
      <dsp:spPr>
        <a:xfrm>
          <a:off x="0" y="1511654"/>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Large data set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In small and imbalanced datasets, model often shows a fake high performances metrics, gives 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dirty="0"/>
            <a:t>Dataset Imbalance</a:t>
          </a:r>
          <a:r>
            <a:rPr lang="en-ID" sz="2200" kern="1200" dirty="0"/>
            <a:t>: An imbalanced data set results in bias in the model that discriminatively and unfairly predicts directly for the majority class. Minority groups are not represented, resulting in low accuracy.</a:t>
          </a:r>
          <a:endParaRPr lang="en-US" sz="22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a:t>Impact of Sample Size</a:t>
          </a:r>
          <a:r>
            <a:rPr lang="en-ID" sz="2200" kern="1200"/>
            <a:t>: Small sample size gave misleading impression of fairness, because it can fakely increase the model's performance on minority classes, when in fact it does not.</a:t>
          </a:r>
          <a:endParaRPr lang="en-US" sz="2200" kern="120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dirty="0"/>
            <a:t>Bias Evaluation</a:t>
          </a:r>
          <a:r>
            <a:rPr lang="en-ID" sz="2200" kern="1200" dirty="0"/>
            <a:t>: The findings showed that the bias evaluation is failed when using imbalanced and small data sets</a:t>
          </a:r>
          <a:endParaRPr lang="en-US" sz="2200" kern="1200" dirty="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evaluates a few types of data characteristics, which are only data homogeneity and 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use logistic regression 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The study was also limited to only the use of synthetic (artificial) datasets.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44108" cy="91440"/>
        </a:xfrm>
        <a:custGeom>
          <a:avLst/>
          <a:gdLst/>
          <a:ahLst/>
          <a:cxnLst/>
          <a:rect l="0" t="0" r="0" b="0"/>
          <a:pathLst>
            <a:path>
              <a:moveTo>
                <a:pt x="0" y="45720"/>
              </a:moveTo>
              <a:lnTo>
                <a:pt x="644108"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0756" y="924701"/>
        <a:ext cx="33735"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ID" sz="1700" b="1" kern="1200"/>
            <a:t>1.Bias Mitigation Techniques: </a:t>
          </a:r>
          <a:endParaRPr lang="en-US" sz="1700" kern="1200"/>
        </a:p>
      </dsp:txBody>
      <dsp:txXfrm>
        <a:off x="7861" y="40252"/>
        <a:ext cx="2959508" cy="1775704"/>
      </dsp:txXfrm>
    </dsp:sp>
    <dsp:sp modelId="{15A6C1A9-4ECD-490D-896D-1DFDD16C93A3}">
      <dsp:nvSpPr>
        <dsp:cNvPr id="0" name=""/>
        <dsp:cNvSpPr/>
      </dsp:nvSpPr>
      <dsp:spPr>
        <a:xfrm>
          <a:off x="6599786" y="882385"/>
          <a:ext cx="656065" cy="91440"/>
        </a:xfrm>
        <a:custGeom>
          <a:avLst/>
          <a:gdLst/>
          <a:ahLst/>
          <a:cxnLst/>
          <a:rect l="0" t="0" r="0" b="0"/>
          <a:pathLst>
            <a:path>
              <a:moveTo>
                <a:pt x="0" y="45720"/>
              </a:moveTo>
              <a:lnTo>
                <a:pt x="656065"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0652" y="924701"/>
        <a:ext cx="34333" cy="6806"/>
      </dsp:txXfrm>
    </dsp:sp>
    <dsp:sp modelId="{C2FDBFF4-4021-48AF-A082-DD67F01EAC7E}">
      <dsp:nvSpPr>
        <dsp:cNvPr id="0" name=""/>
        <dsp:cNvSpPr/>
      </dsp:nvSpPr>
      <dsp:spPr>
        <a:xfrm>
          <a:off x="3642078"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develop bias mitigation techniques in more detail, for example, Synthetic Minority Over-sampling (SMOTE) or Under-sampling Technique.</a:t>
          </a:r>
        </a:p>
      </dsp:txBody>
      <dsp:txXfrm>
        <a:off x="3642078"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a:t>2.Exploring Other Models </a:t>
          </a:r>
          <a:endParaRPr lang="en-US" sz="17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dirty="0"/>
            <a:t>3. Explore the Impact of other Dataset Characteristics: </a:t>
          </a:r>
          <a:endParaRPr lang="en-US" sz="17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investigate how the differences in the dataset’s characteristics such as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45067-F99C-D0FC-E692-60365D60E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5A64-BD7D-DFCF-D6C7-4898AD8D4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6020E-E338-923B-471C-AEFA44FE7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BF46-E98C-BCA4-08B1-B1FB7153259B}"/>
              </a:ext>
            </a:extLst>
          </p:cNvPr>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296003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5</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6</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7</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11</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51C3C-7E0C-FD13-6AAE-25E337EE1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B48B2-5F8F-5AF0-4E72-9F057C462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664DB-2181-8726-44AA-C0AC6172E4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105862-FD56-4F19-7DAA-1EA32E672479}"/>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3273722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19</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21</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27</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28</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2.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1777180"/>
            <a:ext cx="10795820" cy="3303639"/>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Documenting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1800" dirty="0">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338DD-1229-EF25-902F-4A7CC5396A3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D98D0D6-27F3-92BF-D310-E3157DA997E2}"/>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spTree>
    <p:extLst>
      <p:ext uri="{BB962C8B-B14F-4D97-AF65-F5344CB8AC3E}">
        <p14:creationId xmlns:p14="http://schemas.microsoft.com/office/powerpoint/2010/main" val="1129088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25068" y="1096965"/>
            <a:ext cx="9500184" cy="2574668"/>
          </a:xfrm>
        </p:spPr>
        <p:txBody>
          <a:bodyPr vert="horz" lIns="91440" tIns="45720" rIns="91440" bIns="45720" rtlCol="0" anchor="b" anchorCtr="0">
            <a:normAutofit fontScale="90000"/>
          </a:bodyPr>
          <a:lstStyle/>
          <a:p>
            <a:pPr>
              <a:lnSpc>
                <a:spcPct val="90000"/>
              </a:lnSpc>
            </a:pPr>
            <a:r>
              <a:rPr lang="en-US" sz="2800" dirty="0"/>
              <a:t>This study proposes the incorporation of dataset characteristics to be documented into Responsible AI and Explainable AI (XAI) practices, </a:t>
            </a:r>
            <a:br>
              <a:rPr lang="en-US" sz="2800" dirty="0"/>
            </a:br>
            <a:r>
              <a:rPr lang="en-US" sz="2800" dirty="0"/>
              <a:t>especially the </a:t>
            </a:r>
            <a:r>
              <a:rPr lang="en-US" sz="2800" b="1" dirty="0"/>
              <a:t>homogeneity composition</a:t>
            </a:r>
            <a:r>
              <a:rPr lang="en-US" sz="2800" dirty="0"/>
              <a:t>, whether the dataset is balanced or imbalanced, </a:t>
            </a:r>
            <a:br>
              <a:rPr lang="en-US" sz="2800" dirty="0"/>
            </a:br>
            <a:r>
              <a:rPr lang="en-US" sz="2800" dirty="0"/>
              <a:t>and </a:t>
            </a:r>
            <a:r>
              <a:rPr lang="en-US" sz="2800" b="1" dirty="0"/>
              <a:t>data sparsity</a:t>
            </a:r>
            <a:r>
              <a:rPr lang="en-US" sz="2800" dirty="0"/>
              <a:t>, whether small or large samples, </a:t>
            </a:r>
            <a:br>
              <a:rPr lang="en-US" sz="2800" dirty="0"/>
            </a:br>
            <a:r>
              <a:rPr lang="en-US" sz="2800" dirty="0"/>
              <a:t>for transparency at both the data and model levels</a:t>
            </a:r>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r>
              <a:rPr lang="en-US" sz="2000" dirty="0"/>
              <a:t>1.How does the documentation of dataset homogeneity composition (balance vs. imbalanced) impact the AI model transparency and fairness in decision-making systems? </a:t>
            </a:r>
          </a:p>
          <a:p>
            <a:endParaRPr lang="en-US" sz="2000" dirty="0"/>
          </a:p>
          <a:p>
            <a:r>
              <a:rPr lang="en-US" sz="2000" dirty="0"/>
              <a:t>2. What is the relationship between data sparsity/ dataset’s size and the bias evaluation in AI models, when the training data is imbalanced ?</a:t>
            </a:r>
          </a:p>
          <a:p>
            <a:endParaRPr lang="en-US" sz="2000" dirty="0"/>
          </a:p>
          <a:p>
            <a:r>
              <a:rPr lang="en-US" sz="2000" dirty="0"/>
              <a:t>3. How do small sample sizes mislead bias evaluation, and what are the implications for models trained on imbalanced datasets?</a:t>
            </a:r>
          </a:p>
        </p:txBody>
      </p:sp>
    </p:spTree>
    <p:extLst>
      <p:ext uri="{BB962C8B-B14F-4D97-AF65-F5344CB8AC3E}">
        <p14:creationId xmlns:p14="http://schemas.microsoft.com/office/powerpoint/2010/main" val="1944867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2153264"/>
            <a:ext cx="11338702" cy="3943350"/>
          </a:xfrm>
        </p:spPr>
        <p:txBody>
          <a:bodyPr>
            <a:noAutofit/>
          </a:bodyPr>
          <a:lstStyle/>
          <a:p>
            <a:pPr marL="0" indent="0" algn="just">
              <a:buNone/>
            </a:pPr>
            <a:r>
              <a:rPr lang="en-US" sz="2000" dirty="0"/>
              <a:t>Based on research studied by Miao, Y., Cao, H., and Tang, M. (2022), the </a:t>
            </a:r>
            <a:r>
              <a:rPr lang="en-US" sz="2000" b="1" dirty="0"/>
              <a:t>imbalance ratio (IR) influences the performance and stability of the model.</a:t>
            </a:r>
            <a:r>
              <a:rPr lang="en-US" sz="2000" dirty="0"/>
              <a:t> The models like Logistic Regression, Decision Trees, and Support Vector Classifiers show less stability, while Naive Bayes, Random Forests, and Gradient Boosting Decision Trees showed more stable performance.</a:t>
            </a:r>
          </a:p>
          <a:p>
            <a:pPr marL="0" indent="0" algn="just">
              <a:buNone/>
            </a:pPr>
            <a:endParaRPr lang="en-US" sz="2000" dirty="0"/>
          </a:p>
          <a:p>
            <a:pPr marL="0" indent="0" algn="just">
              <a:buNone/>
            </a:pPr>
            <a:r>
              <a:rPr lang="en-US" sz="2000" dirty="0"/>
              <a:t>The study by Lin (2018) with title "Bias caused by sampling error in meta-analysis with small sample sizes" warned that </a:t>
            </a:r>
            <a:r>
              <a:rPr lang="en-US" sz="2000" b="1" dirty="0"/>
              <a:t>too small sample sizes can create significant bias</a:t>
            </a:r>
            <a:r>
              <a:rPr lang="en-US" sz="2000" dirty="0"/>
              <a:t>. </a:t>
            </a:r>
          </a:p>
        </p:txBody>
      </p:sp>
    </p:spTree>
    <p:extLst>
      <p:ext uri="{BB962C8B-B14F-4D97-AF65-F5344CB8AC3E}">
        <p14:creationId xmlns:p14="http://schemas.microsoft.com/office/powerpoint/2010/main" val="827485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3056291699"/>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nvPr>
        </p:nvGraphicFramePr>
        <p:xfrm>
          <a:off x="568163" y="1997132"/>
          <a:ext cx="11338702"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9558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1440977"/>
            <a:ext cx="4075200" cy="1532951"/>
          </a:xfrm>
        </p:spPr>
        <p:txBody>
          <a:bodyPr vert="horz" lIns="91440" tIns="45720" rIns="91440" bIns="45720" rtlCol="0" anchor="b" anchorCtr="0">
            <a:normAutofit fontScale="90000"/>
          </a:bodyPr>
          <a:lstStyle/>
          <a:p>
            <a:pPr>
              <a:lnSpc>
                <a:spcPct val="90000"/>
              </a:lnSpc>
            </a:pPr>
            <a:r>
              <a:rPr lang="en-US" dirty="0"/>
              <a:t>Small Balanced Dataset Confusion Matrix</a:t>
            </a:r>
            <a:br>
              <a:rPr lang="en-US" dirty="0"/>
            </a:br>
            <a:r>
              <a:rPr lang="en-US" dirty="0"/>
              <a:t>and LIME</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980141" y="4701076"/>
            <a:ext cx="10025098" cy="1149515"/>
          </a:xfrm>
          <a:prstGeom prst="rect">
            <a:avLst/>
          </a:prstGeom>
        </p:spPr>
      </p:pic>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1532951"/>
          </a:xfrm>
        </p:spPr>
        <p:txBody>
          <a:bodyPr vert="horz" lIns="91440" tIns="45720" rIns="91440" bIns="45720" rtlCol="0" anchor="b" anchorCtr="0">
            <a:normAutofit fontScale="90000"/>
          </a:bodyPr>
          <a:lstStyle/>
          <a:p>
            <a:pPr>
              <a:lnSpc>
                <a:spcPct val="90000"/>
              </a:lnSpc>
            </a:pPr>
            <a:r>
              <a:rPr lang="en-US" sz="4100" dirty="0"/>
              <a:t>Small Imbalanced Dataset </a:t>
            </a:r>
            <a:r>
              <a:rPr lang="en-US" sz="4400" dirty="0"/>
              <a:t>Confusion Matrix and LIME</a:t>
            </a:r>
            <a:endParaRPr lang="en-US" sz="4100" dirty="0"/>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75820" y="4625423"/>
            <a:ext cx="10970360" cy="1229645"/>
          </a:xfrm>
          <a:prstGeom prst="rect">
            <a:avLst/>
          </a:prstGeom>
        </p:spPr>
      </p:pic>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2352110" y="1483602"/>
            <a:ext cx="7443279" cy="4707872"/>
          </a:xfrm>
          <a:prstGeom prst="rect">
            <a:avLst/>
          </a:prstGeom>
        </p:spPr>
      </p:pic>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2398A953-02FA-147A-96FB-D4973E9E150A}"/>
            </a:ext>
          </a:extLst>
        </p:cNvPr>
        <p:cNvGrpSpPr/>
        <p:nvPr/>
      </p:nvGrpSpPr>
      <p:grpSpPr>
        <a:xfrm>
          <a:off x="0" y="0"/>
          <a:ext cx="0" cy="0"/>
          <a:chOff x="0" y="0"/>
          <a:chExt cx="0" cy="0"/>
        </a:xfrm>
      </p:grpSpPr>
      <p:cxnSp>
        <p:nvCxnSpPr>
          <p:cNvPr id="100" name="Straight Connector 99">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1" name="Group 10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0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4"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05" name="Rectangle 10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6C927028-E150-F062-56C2-7B0EB1C1F665}"/>
              </a:ext>
            </a:extLst>
          </p:cNvPr>
          <p:cNvSpPr>
            <a:spLocks noGrp="1"/>
          </p:cNvSpPr>
          <p:nvPr>
            <p:ph type="title"/>
          </p:nvPr>
        </p:nvSpPr>
        <p:spPr>
          <a:xfrm>
            <a:off x="7147818" y="1216479"/>
            <a:ext cx="4060800" cy="2049502"/>
          </a:xfrm>
        </p:spPr>
        <p:txBody>
          <a:bodyPr vert="horz" lIns="91440" tIns="45720" rIns="91440" bIns="45720" rtlCol="0" anchor="b" anchorCtr="0">
            <a:normAutofit fontScale="90000"/>
          </a:bodyPr>
          <a:lstStyle/>
          <a:p>
            <a:r>
              <a:rPr lang="en-US" dirty="0"/>
              <a:t>Large Balanced Dataset Confusion Matrix and LIME</a:t>
            </a:r>
          </a:p>
        </p:txBody>
      </p:sp>
      <p:pic>
        <p:nvPicPr>
          <p:cNvPr id="4" name="Picture 3"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cxnSp>
        <p:nvCxnSpPr>
          <p:cNvPr id="106" name="Straight Connector 105">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1" name="Group 80">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82" name="Group 81">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07"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8"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9"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0"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1"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3" name="Group 112">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92" name="Group 91">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97"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93" name="Group 92">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94"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6"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253580"/>
            <a:ext cx="10087516" cy="2199122"/>
          </a:xfrm>
          <a:prstGeom prst="rect">
            <a:avLst/>
          </a:prstGeom>
        </p:spPr>
      </p:pic>
    </p:spTree>
    <p:extLst>
      <p:ext uri="{BB962C8B-B14F-4D97-AF65-F5344CB8AC3E}">
        <p14:creationId xmlns:p14="http://schemas.microsoft.com/office/powerpoint/2010/main" val="65001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7256099" y="900713"/>
            <a:ext cx="4060800" cy="2049502"/>
          </a:xfrm>
        </p:spPr>
        <p:txBody>
          <a:bodyPr vert="horz" lIns="91440" tIns="45720" rIns="91440" bIns="45720" rtlCol="0" anchor="b" anchorCtr="0">
            <a:normAutofit fontScale="90000"/>
          </a:bodyPr>
          <a:lstStyle/>
          <a:p>
            <a:pPr>
              <a:lnSpc>
                <a:spcPct val="90000"/>
              </a:lnSpc>
            </a:pPr>
            <a:r>
              <a:rPr lang="en-US" sz="4400" dirty="0"/>
              <a:t>Large Imbalanced Dataset Confusion Matrix and LIME</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13223" y="4168431"/>
            <a:ext cx="10711154" cy="2195097"/>
          </a:xfrm>
          <a:prstGeom prst="rect">
            <a:avLst/>
          </a:prstGeom>
        </p:spPr>
      </p:pic>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a:t>Large Dataset Comparison</a:t>
            </a:r>
            <a:endParaRPr lang="en-US" dirty="0"/>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2940959" y="1546049"/>
            <a:ext cx="6556147" cy="4707872"/>
          </a:xfrm>
          <a:prstGeom prst="rect">
            <a:avLst/>
          </a:prstGeom>
        </p:spPr>
      </p:pic>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176194790"/>
              </p:ext>
            </p:extLst>
          </p:nvPr>
        </p:nvGraphicFramePr>
        <p:xfrm>
          <a:off x="6095999" y="737419"/>
          <a:ext cx="4670323" cy="5484363"/>
        </p:xfrm>
        <a:graphic>
          <a:graphicData uri="http://schemas.openxmlformats.org/drawingml/2006/table">
            <a:tbl>
              <a:tblPr firstRow="1" bandRow="1">
                <a:tableStyleId>{0505E3EF-67EA-436B-97B2-0124C06EBD24}</a:tableStyleId>
              </a:tblPr>
              <a:tblGrid>
                <a:gridCol w="2441127">
                  <a:extLst>
                    <a:ext uri="{9D8B030D-6E8A-4147-A177-3AD203B41FA5}">
                      <a16:colId xmlns:a16="http://schemas.microsoft.com/office/drawing/2014/main" val="1953879122"/>
                    </a:ext>
                  </a:extLst>
                </a:gridCol>
                <a:gridCol w="2229196">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2378985998"/>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26654975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1469922" y="1568246"/>
            <a:ext cx="9856787" cy="4801314"/>
          </a:xfrm>
          <a:prstGeom prst="rect">
            <a:avLst/>
          </a:prstGeom>
          <a:noFill/>
        </p:spPr>
        <p:txBody>
          <a:bodyPr wrap="square">
            <a:spAutoFit/>
          </a:bodyPr>
          <a:lstStyle/>
          <a:p>
            <a:pPr lvl="0"/>
            <a:r>
              <a:rPr lang="en-ID" b="1" dirty="0"/>
              <a:t>Impact of Dataset Imbalance: </a:t>
            </a:r>
          </a:p>
          <a:p>
            <a:pPr lvl="0"/>
            <a:r>
              <a:rPr lang="en-ID" dirty="0"/>
              <a:t>Models trained on imbalanced datasets showed bias, favouring the majority class and ignore the minority classes. This bias becomes more obvious when the size of the dataset increase.</a:t>
            </a:r>
          </a:p>
          <a:p>
            <a:pPr lvl="0"/>
            <a:endParaRPr lang="en-ID" dirty="0"/>
          </a:p>
          <a:p>
            <a:pPr lvl="0"/>
            <a:r>
              <a:rPr lang="en-US" b="1" dirty="0"/>
              <a:t>Misleading Effects of Small Sample Sizes: </a:t>
            </a:r>
          </a:p>
          <a:p>
            <a:pPr lvl="0"/>
            <a:r>
              <a:rPr lang="en-US" dirty="0"/>
              <a:t>The research also highlights how small sample sizes can provide a false sense of fairness, with models appearing to perform well on minority classes. As the sample size increases, the model’s bias becomes clearer, with performance metrics such as recall drop for the minority class. </a:t>
            </a:r>
          </a:p>
          <a:p>
            <a:pPr lvl="0"/>
            <a:endParaRPr lang="en-US" dirty="0"/>
          </a:p>
          <a:p>
            <a:pPr lvl="0"/>
            <a:r>
              <a:rPr lang="en-US" b="1" dirty="0"/>
              <a:t>The Importance of Documentation: </a:t>
            </a:r>
          </a:p>
          <a:p>
            <a:pPr lvl="0"/>
            <a:r>
              <a:rPr lang="en-US" dirty="0"/>
              <a:t>This study recommends the documentation of dataset characteristics into Responsible AI (XAI) practices. </a:t>
            </a:r>
          </a:p>
          <a:p>
            <a:pPr lvl="0"/>
            <a:r>
              <a:rPr lang="en-US" dirty="0"/>
              <a:t>By documenting whether dataset’s characteristic, will gain more trust from the stakeholders about the AI systems.</a:t>
            </a:r>
          </a:p>
          <a:p>
            <a:pPr lvl="0"/>
            <a:endParaRPr lang="en-US" dirty="0"/>
          </a:p>
          <a:p>
            <a:pPr lvl="0"/>
            <a:endParaRPr lang="en-ID" dirty="0"/>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Summary of the Key Findings</a:t>
            </a: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3998358048"/>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2.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325</TotalTime>
  <Words>1591</Words>
  <Application>Microsoft Office PowerPoint</Application>
  <PresentationFormat>Widescreen</PresentationFormat>
  <Paragraphs>122</Paragraphs>
  <Slides>28</Slides>
  <Notes>28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Documenting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Small Balanced Dataset Confusion Matrix and LIME</vt:lpstr>
      <vt:lpstr>Small Imbalanced Dataset Confusion Matrix and LIME</vt:lpstr>
      <vt:lpstr>Small Dataset Comparison</vt:lpstr>
      <vt:lpstr>Large Balanced Dataset Confusion Matrix and LIME</vt:lpstr>
      <vt:lpstr>Large Imbalanced Dataset Confusion Matrix and LIME</vt:lpstr>
      <vt:lpstr>Large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Summary of the Key Findings</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146</cp:revision>
  <dcterms:created xsi:type="dcterms:W3CDTF">2024-11-01T12:30:02Z</dcterms:created>
  <dcterms:modified xsi:type="dcterms:W3CDTF">2024-11-02T12:12:56Z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