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0.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1"/>
  </p:notesMasterIdLst>
  <p:handoutMasterIdLst>
    <p:handoutMasterId r:id="rId32"/>
  </p:handoutMasterIdLst>
  <p:sldIdLst>
    <p:sldId id="347" r:id="rId5"/>
    <p:sldId id="328" r:id="rId6"/>
    <p:sldId id="257" r:id="rId7"/>
    <p:sldId id="262" r:id="rId8"/>
    <p:sldId id="313" r:id="rId9"/>
    <p:sldId id="322" r:id="rId10"/>
    <p:sldId id="329" r:id="rId11"/>
    <p:sldId id="330" r:id="rId12"/>
    <p:sldId id="332" r:id="rId13"/>
    <p:sldId id="324" r:id="rId14"/>
    <p:sldId id="350" r:id="rId15"/>
    <p:sldId id="337" r:id="rId16"/>
    <p:sldId id="340" r:id="rId17"/>
    <p:sldId id="334" r:id="rId18"/>
    <p:sldId id="335" r:id="rId19"/>
    <p:sldId id="338" r:id="rId20"/>
    <p:sldId id="260" r:id="rId21"/>
    <p:sldId id="325" r:id="rId22"/>
    <p:sldId id="341" r:id="rId23"/>
    <p:sldId id="342" r:id="rId24"/>
    <p:sldId id="326" r:id="rId25"/>
    <p:sldId id="344" r:id="rId26"/>
    <p:sldId id="345" r:id="rId27"/>
    <p:sldId id="327" r:id="rId28"/>
    <p:sldId id="346" r:id="rId29"/>
    <p:sldId id="268"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33" autoAdjust="0"/>
    <p:restoredTop sz="95660" autoAdjust="0"/>
  </p:normalViewPr>
  <p:slideViewPr>
    <p:cSldViewPr snapToGrid="0">
      <p:cViewPr varScale="1">
        <p:scale>
          <a:sx n="73" d="100"/>
          <a:sy n="73" d="100"/>
        </p:scale>
        <p:origin x="713" y="55"/>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dirty="0"/>
            <a:t>Accuracy</a:t>
          </a:r>
          <a:r>
            <a:rPr lang="en-US" dirty="0"/>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dirty="0"/>
            <a:t>Precision</a:t>
          </a:r>
          <a:r>
            <a:rPr lang="en-US" dirty="0"/>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dirty="0"/>
            <a:t>Recall </a:t>
          </a:r>
          <a:r>
            <a:rPr lang="en-US" dirty="0"/>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dirty="0"/>
            <a:t>F1-score</a:t>
          </a:r>
          <a:r>
            <a:rPr lang="en-US" dirty="0"/>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dirty="0"/>
            <a:t>AUC-PR is </a:t>
          </a:r>
          <a:r>
            <a:rPr lang="en-US" b="0" dirty="0"/>
            <a:t>PRECISION-RECALL curve</a:t>
          </a:r>
          <a:r>
            <a:rPr lang="en-US" b="1" dirty="0"/>
            <a:t>, </a:t>
          </a:r>
          <a:r>
            <a:rPr lang="en-US" b="0" dirty="0"/>
            <a:t>SHOWS</a:t>
          </a:r>
          <a:r>
            <a:rPr lang="en-US" b="1" dirty="0"/>
            <a:t> </a:t>
          </a:r>
          <a:r>
            <a:rPr lang="en-ID" dirty="0"/>
            <a:t>overall performance of the model.</a:t>
          </a:r>
        </a:p>
        <a:p>
          <a:pPr>
            <a:lnSpc>
              <a:spcPct val="100000"/>
            </a:lnSpc>
            <a:defRPr cap="all"/>
          </a:pPr>
          <a:r>
            <a:rPr lang="en-ID" dirty="0"/>
            <a:t>A higher AUC value indicates better performance.</a:t>
          </a:r>
          <a:endParaRPr lang="en-US" dirty="0"/>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dirty="0"/>
            <a:t>Small Balanced </a:t>
          </a:r>
          <a:r>
            <a:rPr lang="en-US" dirty="0"/>
            <a:t>Datasets</a:t>
          </a:r>
          <a:r>
            <a:rPr lang="en-US" b="1" dirty="0"/>
            <a:t> </a:t>
          </a:r>
          <a:r>
            <a:rPr lang="en-US" dirty="0"/>
            <a:t>(n = 10000) vs </a:t>
          </a:r>
          <a:r>
            <a:rPr lang="en-US" b="1" dirty="0"/>
            <a:t>Large Balanced </a:t>
          </a:r>
          <a:r>
            <a:rPr lang="en-US" dirty="0"/>
            <a:t>Datasets (n = 1000000)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dirty="0"/>
            <a:t>Small Imbalanced </a:t>
          </a:r>
          <a:r>
            <a:rPr lang="en-US" dirty="0"/>
            <a:t>Datasets (n = 10000) vs </a:t>
          </a:r>
          <a:r>
            <a:rPr lang="en-US" b="1" dirty="0"/>
            <a:t>Large Imbalanced</a:t>
          </a:r>
          <a:r>
            <a:rPr lang="en-US" dirty="0"/>
            <a:t> Datasets (n = 1000000)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dirty="0"/>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dirty="0"/>
            <a:t>There is </a:t>
          </a:r>
          <a:r>
            <a:rPr lang="en-US" b="1" dirty="0"/>
            <a:t>bias in class-imbalance dataset</a:t>
          </a:r>
          <a:r>
            <a:rPr lang="en-US" dirty="0"/>
            <a:t>. But small sample size can’t detect it.</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b="1" dirty="0"/>
            <a:t>Large data set can show the true face of the bias</a:t>
          </a:r>
          <a:r>
            <a:rPr lang="en-US" dirty="0"/>
            <a:t>,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dirty="0"/>
            <a:t>In </a:t>
          </a:r>
          <a:r>
            <a:rPr lang="en-US" b="1" dirty="0"/>
            <a:t>small and imbalanced datasets</a:t>
          </a:r>
          <a:r>
            <a:rPr lang="en-US" dirty="0"/>
            <a:t>, model often shows a </a:t>
          </a:r>
          <a:r>
            <a:rPr lang="en-US" b="1" dirty="0"/>
            <a:t>fake</a:t>
          </a:r>
          <a:r>
            <a:rPr lang="en-US" dirty="0"/>
            <a:t> high performances metrics, gives </a:t>
          </a:r>
          <a:r>
            <a:rPr lang="en-US" b="1" dirty="0"/>
            <a:t>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custLinFactNeighborX="11179" custLinFactNeighborY="-2414"/>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Class-Imbalanced </a:t>
          </a:r>
          <a:r>
            <a:rPr lang="en-ID" dirty="0"/>
            <a:t>data set results in </a:t>
          </a:r>
          <a:r>
            <a:rPr lang="en-ID" b="1" dirty="0"/>
            <a:t>bias</a:t>
          </a:r>
          <a:r>
            <a:rPr lang="en-ID" dirty="0"/>
            <a:t> in the model that discriminatively and unfairly predicts directly for the majority class. Minority groups are </a:t>
          </a:r>
          <a:r>
            <a:rPr lang="en-ID"/>
            <a:t>not represented.</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dirty="0"/>
            <a:t>Small Sample Size </a:t>
          </a:r>
          <a:r>
            <a:rPr lang="en-ID" dirty="0"/>
            <a:t>gave misleading impression of fairness, because it can fake the model's performance on minority classes, when in fact it does not.</a:t>
          </a:r>
          <a:endParaRPr lang="en-US" dirty="0"/>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dirty="0"/>
            <a:t>Bias Evaluation </a:t>
          </a:r>
          <a:r>
            <a:rPr lang="en-ID" dirty="0"/>
            <a:t>is failed when using small class-imbalanced data sets</a:t>
          </a:r>
          <a:endParaRPr lang="en-US" dirty="0"/>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t>
          </a:r>
          <a:r>
            <a:rPr lang="en-US" b="1" dirty="0"/>
            <a:t>two</a:t>
          </a:r>
          <a:r>
            <a:rPr lang="en-US" dirty="0"/>
            <a:t> types of data characteristics, which are only data </a:t>
          </a:r>
          <a:r>
            <a:rPr lang="en-US" b="1" dirty="0"/>
            <a:t>homogeneity </a:t>
          </a:r>
          <a:r>
            <a:rPr lang="en-US" dirty="0"/>
            <a:t>and </a:t>
          </a:r>
          <a:r>
            <a:rPr lang="en-US" b="1" dirty="0"/>
            <a:t>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a:t>
          </a:r>
          <a:r>
            <a:rPr lang="en-US" b="1" dirty="0"/>
            <a:t>logistic regression </a:t>
          </a:r>
          <a:r>
            <a:rPr lang="en-US" dirty="0"/>
            <a:t>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a:t>
          </a:r>
          <a:r>
            <a:rPr lang="en-US" b="1" dirty="0"/>
            <a:t>synthetic (artificial) datasets</a:t>
          </a:r>
          <a:r>
            <a:rPr lang="en-US" dirty="0"/>
            <a:t>.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Under-sampling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dirty="0"/>
            <a:t>investigate how the differences in the dataset’s characteristics such as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custLinFactNeighborX="-202">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386059"/>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62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Accuracy</a:t>
          </a:r>
          <a:r>
            <a:rPr lang="en-US" sz="1100" kern="1200" dirty="0"/>
            <a:t> shows the overall correctness of the model.</a:t>
          </a:r>
        </a:p>
      </dsp:txBody>
      <dsp:txXfrm>
        <a:off x="424837" y="1826059"/>
        <a:ext cx="1800000" cy="1260000"/>
      </dsp:txXfrm>
    </dsp:sp>
    <dsp:sp modelId="{EEA500C7-4ADB-4DFF-856D-8776E2A0BA63}">
      <dsp:nvSpPr>
        <dsp:cNvPr id="0" name=""/>
        <dsp:cNvSpPr/>
      </dsp:nvSpPr>
      <dsp:spPr>
        <a:xfrm>
          <a:off x="2890837" y="386059"/>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62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Precision</a:t>
          </a:r>
          <a:r>
            <a:rPr lang="en-US" sz="1100" kern="1200" dirty="0"/>
            <a:t> is a metric that measures how often a predicted label is correct.</a:t>
          </a:r>
        </a:p>
      </dsp:txBody>
      <dsp:txXfrm>
        <a:off x="2539837" y="1826059"/>
        <a:ext cx="1800000" cy="1260000"/>
      </dsp:txXfrm>
    </dsp:sp>
    <dsp:sp modelId="{A383093D-694B-423C-A9B1-CB6BB223CE26}">
      <dsp:nvSpPr>
        <dsp:cNvPr id="0" name=""/>
        <dsp:cNvSpPr/>
      </dsp:nvSpPr>
      <dsp:spPr>
        <a:xfrm>
          <a:off x="5005837" y="386059"/>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62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Recall </a:t>
          </a:r>
          <a:r>
            <a:rPr lang="en-US" sz="1100" kern="1200" dirty="0"/>
            <a:t>is a metric that measures how often a true label is correctly predicted.</a:t>
          </a:r>
        </a:p>
      </dsp:txBody>
      <dsp:txXfrm>
        <a:off x="4654837" y="1826059"/>
        <a:ext cx="1800000" cy="1260000"/>
      </dsp:txXfrm>
    </dsp:sp>
    <dsp:sp modelId="{1B858E88-C691-441E-867F-3354B80D5029}">
      <dsp:nvSpPr>
        <dsp:cNvPr id="0" name=""/>
        <dsp:cNvSpPr/>
      </dsp:nvSpPr>
      <dsp:spPr>
        <a:xfrm>
          <a:off x="7120837" y="386059"/>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62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F1-score</a:t>
          </a:r>
          <a:r>
            <a:rPr lang="en-US" sz="1100" kern="1200" dirty="0"/>
            <a:t> is the harmonic mean of precision and recall.</a:t>
          </a:r>
        </a:p>
      </dsp:txBody>
      <dsp:txXfrm>
        <a:off x="6769837" y="1826059"/>
        <a:ext cx="1800000" cy="1260000"/>
      </dsp:txXfrm>
    </dsp:sp>
    <dsp:sp modelId="{6A68A31A-53ED-4C2D-A842-171494C9FF8C}">
      <dsp:nvSpPr>
        <dsp:cNvPr id="0" name=""/>
        <dsp:cNvSpPr/>
      </dsp:nvSpPr>
      <dsp:spPr>
        <a:xfrm>
          <a:off x="9235837" y="386059"/>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62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AUC-PR is </a:t>
          </a:r>
          <a:r>
            <a:rPr lang="en-US" sz="1100" b="0" kern="1200" dirty="0"/>
            <a:t>PRECISION-RECALL curve</a:t>
          </a:r>
          <a:r>
            <a:rPr lang="en-US" sz="1100" b="1" kern="1200" dirty="0"/>
            <a:t>, </a:t>
          </a:r>
          <a:r>
            <a:rPr lang="en-US" sz="1100" b="0" kern="1200" dirty="0"/>
            <a:t>SHOWS</a:t>
          </a:r>
          <a:r>
            <a:rPr lang="en-US" sz="1100" b="1" kern="1200" dirty="0"/>
            <a:t> </a:t>
          </a:r>
          <a:r>
            <a:rPr lang="en-ID" sz="1100" kern="1200" dirty="0"/>
            <a:t>overall performance of the model.</a:t>
          </a:r>
        </a:p>
        <a:p>
          <a:pPr marL="0" lvl="0" indent="0" algn="ctr" defTabSz="488950">
            <a:lnSpc>
              <a:spcPct val="100000"/>
            </a:lnSpc>
            <a:spcBef>
              <a:spcPct val="0"/>
            </a:spcBef>
            <a:spcAft>
              <a:spcPct val="35000"/>
            </a:spcAft>
            <a:buNone/>
            <a:defRPr cap="all"/>
          </a:pPr>
          <a:r>
            <a:rPr lang="en-ID" sz="1100" kern="1200" dirty="0"/>
            <a:t>A higher AUC value indicates better performance.</a:t>
          </a:r>
          <a:endParaRPr lang="en-US" sz="1100" kern="1200" dirty="0"/>
        </a:p>
      </dsp:txBody>
      <dsp:txXfrm>
        <a:off x="8884837" y="1826059"/>
        <a:ext cx="1800000" cy="126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724"/>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40001" y="182238"/>
          <a:ext cx="436366" cy="43636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916369" y="3724"/>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916369" y="3724"/>
        <a:ext cx="9644202" cy="793393"/>
      </dsp:txXfrm>
    </dsp:sp>
    <dsp:sp modelId="{6356869F-88D1-46BC-AC80-815742378100}">
      <dsp:nvSpPr>
        <dsp:cNvPr id="0" name=""/>
        <dsp:cNvSpPr/>
      </dsp:nvSpPr>
      <dsp:spPr>
        <a:xfrm>
          <a:off x="0" y="995466"/>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40001" y="1173979"/>
          <a:ext cx="436366" cy="43636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916369" y="995466"/>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Balanced </a:t>
          </a:r>
          <a:r>
            <a:rPr lang="en-US" sz="1900" kern="1200" dirty="0"/>
            <a:t>Datasets</a:t>
          </a:r>
          <a:r>
            <a:rPr lang="en-US" sz="1900" b="1" kern="1200" dirty="0"/>
            <a:t> </a:t>
          </a:r>
          <a:r>
            <a:rPr lang="en-US" sz="1900" kern="1200" dirty="0"/>
            <a:t>(n = 10000) vs </a:t>
          </a:r>
          <a:r>
            <a:rPr lang="en-US" sz="1900" b="1" kern="1200" dirty="0"/>
            <a:t>Large Balanced </a:t>
          </a:r>
          <a:r>
            <a:rPr lang="en-US" sz="1900" kern="1200" dirty="0"/>
            <a:t>Datasets (n = 1000000)</a:t>
          </a:r>
        </a:p>
      </dsp:txBody>
      <dsp:txXfrm>
        <a:off x="916369" y="995466"/>
        <a:ext cx="9644202" cy="793393"/>
      </dsp:txXfrm>
    </dsp:sp>
    <dsp:sp modelId="{173985AF-D1B4-4A73-9272-C2429E6FF0E5}">
      <dsp:nvSpPr>
        <dsp:cNvPr id="0" name=""/>
        <dsp:cNvSpPr/>
      </dsp:nvSpPr>
      <dsp:spPr>
        <a:xfrm>
          <a:off x="0" y="1987207"/>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40001" y="2165721"/>
          <a:ext cx="436366" cy="43636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916369" y="1987207"/>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Imbalanced </a:t>
          </a:r>
          <a:r>
            <a:rPr lang="en-US" sz="1900" kern="1200" dirty="0"/>
            <a:t>Datasets (n = 10000) vs </a:t>
          </a:r>
          <a:r>
            <a:rPr lang="en-US" sz="1900" b="1" kern="1200" dirty="0"/>
            <a:t>Large Imbalanced</a:t>
          </a:r>
          <a:r>
            <a:rPr lang="en-US" sz="1900" kern="1200" dirty="0"/>
            <a:t> Datasets (n = 1000000) </a:t>
          </a:r>
        </a:p>
      </dsp:txBody>
      <dsp:txXfrm>
        <a:off x="916369" y="1987207"/>
        <a:ext cx="9644202" cy="793393"/>
      </dsp:txXfrm>
    </dsp:sp>
    <dsp:sp modelId="{A50CC19D-A895-4438-9C40-D511A5CCB577}">
      <dsp:nvSpPr>
        <dsp:cNvPr id="0" name=""/>
        <dsp:cNvSpPr/>
      </dsp:nvSpPr>
      <dsp:spPr>
        <a:xfrm>
          <a:off x="0" y="2978949"/>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40001" y="3157462"/>
          <a:ext cx="436366" cy="43636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916369" y="2978949"/>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916369" y="2978949"/>
        <a:ext cx="9644202" cy="793393"/>
      </dsp:txXfrm>
    </dsp:sp>
    <dsp:sp modelId="{5316A4F7-90AC-45B7-AD11-5CF29133E80A}">
      <dsp:nvSpPr>
        <dsp:cNvPr id="0" name=""/>
        <dsp:cNvSpPr/>
      </dsp:nvSpPr>
      <dsp:spPr>
        <a:xfrm>
          <a:off x="0" y="3970690"/>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40001" y="4149204"/>
          <a:ext cx="436366" cy="436366"/>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916369" y="3970690"/>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dirty="0"/>
            <a:t>LIME (local interpretable model-agnostic explanations) </a:t>
          </a:r>
        </a:p>
      </dsp:txBody>
      <dsp:txXfrm>
        <a:off x="916369" y="3970690"/>
        <a:ext cx="9644202" cy="79339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There is </a:t>
          </a:r>
          <a:r>
            <a:rPr lang="en-US" sz="1500" b="1" kern="1200" dirty="0"/>
            <a:t>bias in class-imbalance dataset</a:t>
          </a:r>
          <a:r>
            <a:rPr lang="en-US" sz="1500" kern="1200" dirty="0"/>
            <a:t>. But small sample size can’t detect it.</a:t>
          </a:r>
        </a:p>
      </dsp:txBody>
      <dsp:txXfrm>
        <a:off x="1396290" y="516"/>
        <a:ext cx="3900487" cy="1208909"/>
      </dsp:txXfrm>
    </dsp:sp>
    <dsp:sp modelId="{414F4BC7-70EA-4594-B18E-D2F1B122F205}">
      <dsp:nvSpPr>
        <dsp:cNvPr id="0" name=""/>
        <dsp:cNvSpPr/>
      </dsp:nvSpPr>
      <dsp:spPr>
        <a:xfrm>
          <a:off x="0" y="1482470"/>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b="1" kern="1200" dirty="0"/>
            <a:t>Large data set can show the true face of the bias</a:t>
          </a:r>
          <a:r>
            <a:rPr lang="en-US" sz="1500" kern="1200" dirty="0"/>
            <a:t>,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In </a:t>
          </a:r>
          <a:r>
            <a:rPr lang="en-US" sz="1500" b="1" kern="1200" dirty="0"/>
            <a:t>small and imbalanced datasets</a:t>
          </a:r>
          <a:r>
            <a:rPr lang="en-US" sz="1500" kern="1200" dirty="0"/>
            <a:t>, model often shows a </a:t>
          </a:r>
          <a:r>
            <a:rPr lang="en-US" sz="1500" b="1" kern="1200" dirty="0"/>
            <a:t>fake</a:t>
          </a:r>
          <a:r>
            <a:rPr lang="en-US" sz="1500" kern="1200" dirty="0"/>
            <a:t> high performances metrics, gives </a:t>
          </a:r>
          <a:r>
            <a:rPr lang="en-US" sz="1500" b="1" kern="1200" dirty="0"/>
            <a:t>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Class-Imbalanced </a:t>
          </a:r>
          <a:r>
            <a:rPr lang="en-ID" sz="2300" kern="1200" dirty="0"/>
            <a:t>data set results in </a:t>
          </a:r>
          <a:r>
            <a:rPr lang="en-ID" sz="2300" b="1" kern="1200" dirty="0"/>
            <a:t>bias</a:t>
          </a:r>
          <a:r>
            <a:rPr lang="en-ID" sz="2300" kern="1200" dirty="0"/>
            <a:t> in the model that discriminatively and unfairly predicts directly for the majority class. Minority groups are </a:t>
          </a:r>
          <a:r>
            <a:rPr lang="en-ID" sz="2300" kern="1200"/>
            <a:t>not represented.</a:t>
          </a:r>
          <a:endParaRPr lang="en-US" sz="23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Small Sample Size </a:t>
          </a:r>
          <a:r>
            <a:rPr lang="en-ID" sz="2300" kern="1200" dirty="0"/>
            <a:t>gave misleading impression of fairness, because it can fake the model's performance on minority classes, when in fact it does not.</a:t>
          </a:r>
          <a:endParaRPr lang="en-US" sz="2300" kern="1200" dirty="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Bias Evaluation </a:t>
          </a:r>
          <a:r>
            <a:rPr lang="en-ID" sz="2300" kern="1200" dirty="0"/>
            <a:t>is failed when using small class-imbalanced data sets</a:t>
          </a:r>
          <a:endParaRPr lang="en-US" sz="2300" kern="1200" dirty="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evaluates </a:t>
          </a:r>
          <a:r>
            <a:rPr lang="en-US" sz="2200" b="1" kern="1200" dirty="0"/>
            <a:t>two</a:t>
          </a:r>
          <a:r>
            <a:rPr lang="en-US" sz="2200" kern="1200" dirty="0"/>
            <a:t> types of data characteristics, which are only data </a:t>
          </a:r>
          <a:r>
            <a:rPr lang="en-US" sz="2200" b="1" kern="1200" dirty="0"/>
            <a:t>homogeneity </a:t>
          </a:r>
          <a:r>
            <a:rPr lang="en-US" sz="2200" kern="1200" dirty="0"/>
            <a:t>and </a:t>
          </a:r>
          <a:r>
            <a:rPr lang="en-US" sz="2200" b="1" kern="1200" dirty="0"/>
            <a:t>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use </a:t>
          </a:r>
          <a:r>
            <a:rPr lang="en-US" sz="2200" b="1" kern="1200" dirty="0"/>
            <a:t>logistic regression </a:t>
          </a:r>
          <a:r>
            <a:rPr lang="en-US" sz="2200" kern="1200" dirty="0"/>
            <a:t>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The study was also limited to only the use of </a:t>
          </a:r>
          <a:r>
            <a:rPr lang="en-US" sz="2200" b="1" kern="1200" dirty="0"/>
            <a:t>synthetic (artificial) datasets</a:t>
          </a:r>
          <a:r>
            <a:rPr lang="en-US" sz="2200" kern="1200" dirty="0"/>
            <a:t>.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44108" cy="91440"/>
        </a:xfrm>
        <a:custGeom>
          <a:avLst/>
          <a:gdLst/>
          <a:ahLst/>
          <a:cxnLst/>
          <a:rect l="0" t="0" r="0" b="0"/>
          <a:pathLst>
            <a:path>
              <a:moveTo>
                <a:pt x="0" y="45720"/>
              </a:moveTo>
              <a:lnTo>
                <a:pt x="644108"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0756" y="924701"/>
        <a:ext cx="33735"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ID" sz="1700" b="1" kern="1200"/>
            <a:t>1.Bias Mitigation Techniques: </a:t>
          </a:r>
          <a:endParaRPr lang="en-US" sz="1700" kern="1200"/>
        </a:p>
      </dsp:txBody>
      <dsp:txXfrm>
        <a:off x="7861" y="40252"/>
        <a:ext cx="2959508" cy="1775704"/>
      </dsp:txXfrm>
    </dsp:sp>
    <dsp:sp modelId="{15A6C1A9-4ECD-490D-896D-1DFDD16C93A3}">
      <dsp:nvSpPr>
        <dsp:cNvPr id="0" name=""/>
        <dsp:cNvSpPr/>
      </dsp:nvSpPr>
      <dsp:spPr>
        <a:xfrm>
          <a:off x="6599786" y="882385"/>
          <a:ext cx="656065" cy="91440"/>
        </a:xfrm>
        <a:custGeom>
          <a:avLst/>
          <a:gdLst/>
          <a:ahLst/>
          <a:cxnLst/>
          <a:rect l="0" t="0" r="0" b="0"/>
          <a:pathLst>
            <a:path>
              <a:moveTo>
                <a:pt x="0" y="45720"/>
              </a:moveTo>
              <a:lnTo>
                <a:pt x="656065"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0652" y="924701"/>
        <a:ext cx="34333" cy="6806"/>
      </dsp:txXfrm>
    </dsp:sp>
    <dsp:sp modelId="{C2FDBFF4-4021-48AF-A082-DD67F01EAC7E}">
      <dsp:nvSpPr>
        <dsp:cNvPr id="0" name=""/>
        <dsp:cNvSpPr/>
      </dsp:nvSpPr>
      <dsp:spPr>
        <a:xfrm>
          <a:off x="3642078"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develop bias mitigation techniques in more detail, for example, Synthetic Minority Over-sampling (SMOTE) or Under-sampling Technique.</a:t>
          </a:r>
        </a:p>
      </dsp:txBody>
      <dsp:txXfrm>
        <a:off x="3642078"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a:t>2.Exploring Other Models </a:t>
          </a:r>
          <a:endParaRPr lang="en-US" sz="17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dirty="0"/>
            <a:t>3. Explore the Impact of other Dataset Characteristics: </a:t>
          </a:r>
          <a:endParaRPr lang="en-US" sz="17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investigate how the differences in the dataset’s characteristics such as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11/24/2024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11/24/2024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5</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6</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7</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C222-06F2-452F-6CCF-4FE0ADC1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6B4BA-A108-11B7-CD3B-6761B705A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94925-0EE5-A4B0-25F1-F89BDE68DD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A9E52F-FD11-6DC6-F671-C1BC0F5AB8B6}"/>
              </a:ext>
            </a:extLst>
          </p:cNvPr>
          <p:cNvSpPr>
            <a:spLocks noGrp="1"/>
          </p:cNvSpPr>
          <p:nvPr>
            <p:ph type="sldNum" sz="quarter" idx="5"/>
          </p:nvPr>
        </p:nvSpPr>
        <p:spPr/>
        <p:txBody>
          <a:bodyPr/>
          <a:lstStyle/>
          <a:p>
            <a:fld id="{C712FDEA-03A1-4F6D-A72C-F016AC56B49F}" type="slidenum">
              <a:rPr lang="en-US" smtClean="0"/>
              <a:t>11</a:t>
            </a:fld>
            <a:endParaRPr lang="en-US" dirty="0"/>
          </a:p>
        </p:txBody>
      </p:sp>
    </p:spTree>
    <p:extLst>
      <p:ext uri="{BB962C8B-B14F-4D97-AF65-F5344CB8AC3E}">
        <p14:creationId xmlns:p14="http://schemas.microsoft.com/office/powerpoint/2010/main" val="649726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17</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19</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21</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26</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11/24/2024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7.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2001187"/>
            <a:ext cx="10665664" cy="2780676"/>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000" dirty="0">
                <a:solidFill>
                  <a:schemeClr val="tx1">
                    <a:lumMod val="65000"/>
                    <a:lumOff val="35000"/>
                  </a:schemeClr>
                </a:solidFill>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solidFill>
                  <a:schemeClr val="tx1">
                    <a:lumMod val="65000"/>
                    <a:lumOff val="35000"/>
                  </a:schemeClr>
                </a:solidFill>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solidFill>
                <a:schemeClr val="tx1">
                  <a:lumMod val="65000"/>
                  <a:lumOff val="35000"/>
                </a:schemeClr>
              </a:solidFill>
            </a:endParaRPr>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12892" y="2143592"/>
            <a:ext cx="9500184" cy="3732027"/>
          </a:xfrm>
        </p:spPr>
        <p:txBody>
          <a:bodyPr vert="horz" lIns="91440" tIns="45720" rIns="91440" bIns="45720" rtlCol="0" anchor="b" anchorCtr="0">
            <a:normAutofit fontScale="90000"/>
          </a:bodyPr>
          <a:lstStyle/>
          <a:p>
            <a:r>
              <a:rPr lang="en-US" sz="3100" dirty="0"/>
              <a:t>This study proposes the incorporation of dataset characteristics to be documented into Responsible AI and Explainable AI (XAI) practices, </a:t>
            </a:r>
            <a:br>
              <a:rPr lang="en-US" sz="3100" dirty="0"/>
            </a:br>
            <a:r>
              <a:rPr lang="en-US" sz="3100" dirty="0"/>
              <a:t>especially the </a:t>
            </a:r>
            <a:r>
              <a:rPr lang="en-US" sz="3100" b="1" dirty="0"/>
              <a:t>homogeneity composition</a:t>
            </a:r>
            <a:r>
              <a:rPr lang="en-US" sz="3100" dirty="0"/>
              <a:t>, whether the dataset is balanced or imbalanced, </a:t>
            </a:r>
            <a:br>
              <a:rPr lang="en-US" sz="3100" dirty="0"/>
            </a:br>
            <a:r>
              <a:rPr lang="en-US" sz="3100" dirty="0"/>
              <a:t>and </a:t>
            </a:r>
            <a:r>
              <a:rPr lang="en-US" sz="3100" b="1" dirty="0"/>
              <a:t>data sparsity</a:t>
            </a:r>
            <a:r>
              <a:rPr lang="en-US" sz="3100" dirty="0"/>
              <a:t>, whether small or large samples, </a:t>
            </a:r>
            <a:br>
              <a:rPr lang="en-US" sz="3100" dirty="0"/>
            </a:br>
            <a:r>
              <a:rPr lang="en-US" sz="3100" dirty="0"/>
              <a:t>for transparency at both the data and model levels</a:t>
            </a:r>
            <a:br>
              <a:rPr lang="en-US" sz="2800" dirty="0"/>
            </a:br>
            <a:br>
              <a:rPr lang="en-US" sz="2800" dirty="0"/>
            </a:br>
            <a:endParaRPr lang="en-US" sz="2800" dirty="0"/>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968DA4C-C492-08A3-4091-A7518AFB0970}"/>
              </a:ext>
            </a:extLst>
          </p:cNvPr>
          <p:cNvSpPr txBox="1"/>
          <p:nvPr/>
        </p:nvSpPr>
        <p:spPr>
          <a:xfrm>
            <a:off x="4392614" y="674865"/>
            <a:ext cx="3424756" cy="584775"/>
          </a:xfrm>
          <a:prstGeom prst="rect">
            <a:avLst/>
          </a:prstGeom>
          <a:noFill/>
        </p:spPr>
        <p:txBody>
          <a:bodyPr wrap="square">
            <a:spAutoFit/>
          </a:bodyPr>
          <a:lstStyle/>
          <a:p>
            <a:r>
              <a:rPr lang="en-US" sz="3200" dirty="0"/>
              <a:t>01. Introduction</a:t>
            </a:r>
            <a:endParaRPr lang="en-ID" sz="3200" dirty="0"/>
          </a:p>
        </p:txBody>
      </p: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r>
              <a:rPr lang="en-ID" sz="2000" dirty="0"/>
              <a:t>1. How does the dataset homogeneity composition (balance vs. imbalanced) impact the AI model transparency and fairness in decision-making systems?</a:t>
            </a:r>
          </a:p>
          <a:p>
            <a:r>
              <a:rPr lang="en-ID" sz="2000" dirty="0"/>
              <a:t>2. How does the data sparsity/ dataset’s size (Large versus small) influence the accuracy of bias evaluation in AI models, when the training data is class-imbalanced?</a:t>
            </a:r>
          </a:p>
        </p:txBody>
      </p:sp>
    </p:spTree>
    <p:extLst>
      <p:ext uri="{BB962C8B-B14F-4D97-AF65-F5344CB8AC3E}">
        <p14:creationId xmlns:p14="http://schemas.microsoft.com/office/powerpoint/2010/main" val="1944867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2153264"/>
            <a:ext cx="11338702" cy="3943350"/>
          </a:xfrm>
        </p:spPr>
        <p:txBody>
          <a:bodyPr>
            <a:noAutofit/>
          </a:bodyPr>
          <a:lstStyle/>
          <a:p>
            <a:pPr marL="0" indent="0" algn="just">
              <a:buNone/>
            </a:pPr>
            <a:r>
              <a:rPr lang="en-US" sz="2000" dirty="0"/>
              <a:t>Based on research studied by Miao, Y., Cao, H., and Tang, M. (2022), the </a:t>
            </a:r>
            <a:r>
              <a:rPr lang="en-US" sz="2000" b="1" dirty="0"/>
              <a:t>imbalance ratio (IR) influences the performance and stability of the model.</a:t>
            </a:r>
            <a:r>
              <a:rPr lang="en-US" sz="2000" dirty="0"/>
              <a:t> The models like Logistic Regression, Decision Trees, and Support Vector Classifiers show less stability, while Naive Bayes, Random Forests, and Gradient Boosting Decision Trees showed more stable performance.</a:t>
            </a:r>
          </a:p>
          <a:p>
            <a:pPr marL="0" indent="0" algn="just">
              <a:buNone/>
            </a:pPr>
            <a:endParaRPr lang="en-US" sz="2000" dirty="0"/>
          </a:p>
          <a:p>
            <a:pPr marL="0" indent="0" algn="just">
              <a:buNone/>
            </a:pPr>
            <a:r>
              <a:rPr lang="en-US" sz="2000" dirty="0"/>
              <a:t>The study by Lin (2018) with title "Bias caused by sampling error in meta-analysis with small sample sizes" warned that </a:t>
            </a:r>
            <a:r>
              <a:rPr lang="en-US" sz="2000" b="1" dirty="0"/>
              <a:t>too small sample sizes can create significant bias</a:t>
            </a:r>
            <a:r>
              <a:rPr lang="en-US" sz="2000" dirty="0"/>
              <a:t>. </a:t>
            </a:r>
          </a:p>
        </p:txBody>
      </p:sp>
    </p:spTree>
    <p:extLst>
      <p:ext uri="{BB962C8B-B14F-4D97-AF65-F5344CB8AC3E}">
        <p14:creationId xmlns:p14="http://schemas.microsoft.com/office/powerpoint/2010/main" val="8274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dirty="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3056291699"/>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extLst>
              <p:ext uri="{D42A27DB-BD31-4B8C-83A1-F6EECF244321}">
                <p14:modId xmlns:p14="http://schemas.microsoft.com/office/powerpoint/2010/main" val="1578855770"/>
              </p:ext>
            </p:extLst>
          </p:nvPr>
        </p:nvGraphicFramePr>
        <p:xfrm>
          <a:off x="682052" y="1461541"/>
          <a:ext cx="10560572" cy="4767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A9A92ED-3D15-8EBD-FE41-4BF2B453AABE}"/>
              </a:ext>
            </a:extLst>
          </p:cNvPr>
          <p:cNvSpPr txBox="1"/>
          <p:nvPr/>
        </p:nvSpPr>
        <p:spPr>
          <a:xfrm>
            <a:off x="682052" y="628650"/>
            <a:ext cx="10305738" cy="461665"/>
          </a:xfrm>
          <a:prstGeom prst="rect">
            <a:avLst/>
          </a:prstGeom>
          <a:noFill/>
        </p:spPr>
        <p:txBody>
          <a:bodyPr wrap="square">
            <a:spAutoFit/>
          </a:bodyPr>
          <a:lstStyle/>
          <a:p>
            <a:r>
              <a:rPr lang="en-ID" sz="2400" b="1" dirty="0"/>
              <a:t>Methodology</a:t>
            </a:r>
            <a:endParaRPr lang="en-ID" sz="2000" dirty="0"/>
          </a:p>
        </p:txBody>
      </p:sp>
    </p:spTree>
    <p:extLst>
      <p:ext uri="{BB962C8B-B14F-4D97-AF65-F5344CB8AC3E}">
        <p14:creationId xmlns:p14="http://schemas.microsoft.com/office/powerpoint/2010/main" val="769558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53708-1BF5-2197-D511-043E8C99786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A8D9163-E7FB-7CE9-7215-65367C587D91}"/>
              </a:ext>
            </a:extLst>
          </p:cNvPr>
          <p:cNvSpPr>
            <a:spLocks noGrp="1"/>
          </p:cNvSpPr>
          <p:nvPr>
            <p:ph type="title"/>
          </p:nvPr>
        </p:nvSpPr>
        <p:spPr>
          <a:xfrm>
            <a:off x="6250898" y="554863"/>
            <a:ext cx="5411862" cy="1169006"/>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Class-Balanced Dataset</a:t>
            </a:r>
          </a:p>
        </p:txBody>
      </p:sp>
      <p:sp>
        <p:nvSpPr>
          <p:cNvPr id="4" name="TextBox 3">
            <a:extLst>
              <a:ext uri="{FF2B5EF4-FFF2-40B4-BE49-F238E27FC236}">
                <a16:creationId xmlns:a16="http://schemas.microsoft.com/office/drawing/2014/main" id="{FF46ECE6-49D0-ABCB-D923-DBF3C41A8143}"/>
              </a:ext>
            </a:extLst>
          </p:cNvPr>
          <p:cNvSpPr txBox="1"/>
          <p:nvPr/>
        </p:nvSpPr>
        <p:spPr>
          <a:xfrm>
            <a:off x="6250898" y="2058531"/>
            <a:ext cx="5561351" cy="1772280"/>
          </a:xfrm>
          <a:prstGeom prst="rect">
            <a:avLst/>
          </a:prstGeom>
          <a:noFill/>
        </p:spPr>
        <p:txBody>
          <a:bodyPr wrap="square">
            <a:spAutoFit/>
          </a:bodyPr>
          <a:lstStyle/>
          <a:p>
            <a:pPr algn="just">
              <a:lnSpc>
                <a:spcPct val="150000"/>
              </a:lnSpc>
              <a:spcBef>
                <a:spcPts val="1100"/>
              </a:spcBef>
              <a:spcAft>
                <a:spcPts val="1200"/>
              </a:spcAft>
            </a:pPr>
            <a:r>
              <a:rPr lang="en-ID" sz="2000" b="1" dirty="0">
                <a:effectLst/>
                <a:latin typeface="Times New Roman" panose="02020603050405020304" pitchFamily="18" charset="0"/>
                <a:ea typeface="Calibri" panose="020F0502020204030204" pitchFamily="34" charset="0"/>
              </a:rPr>
              <a:t>Good for all classes.</a:t>
            </a:r>
            <a:r>
              <a:rPr lang="en-ID" sz="2000" b="0" dirty="0">
                <a:effectLst/>
                <a:latin typeface="Times New Roman" panose="02020603050405020304" pitchFamily="18" charset="0"/>
                <a:ea typeface="Calibri" panose="020F0502020204030204" pitchFamily="34" charset="0"/>
              </a:rPr>
              <a:t> </a:t>
            </a:r>
          </a:p>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Both features contribute to both classes. </a:t>
            </a:r>
            <a:endParaRPr lang="en-ID" sz="2000" b="1" dirty="0">
              <a:effectLst/>
              <a:latin typeface="Times New Roman" panose="02020603050405020304" pitchFamily="18" charset="0"/>
              <a:ea typeface="Calibri" panose="020F0502020204030204" pitchFamily="34" charset="0"/>
            </a:endParaRPr>
          </a:p>
          <a:p>
            <a:r>
              <a:rPr lang="en-US" sz="2000" dirty="0">
                <a:effectLst/>
                <a:latin typeface="Linux Libertine"/>
                <a:ea typeface="Calibri" panose="020F0502020204030204" pitchFamily="34" charset="0"/>
                <a:cs typeface="Times New Roman" panose="02020603050405020304" pitchFamily="18" charset="0"/>
              </a:rPr>
              <a:t>No class was ignored. </a:t>
            </a:r>
            <a:endParaRPr lang="en-ID" sz="2400" dirty="0"/>
          </a:p>
        </p:txBody>
      </p:sp>
      <p:pic>
        <p:nvPicPr>
          <p:cNvPr id="2" name="Picture 1"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354642"/>
            <a:ext cx="10087516" cy="2098059"/>
          </a:xfrm>
          <a:prstGeom prst="rect">
            <a:avLst/>
          </a:prstGeom>
        </p:spPr>
      </p:pic>
    </p:spTree>
    <p:extLst>
      <p:ext uri="{BB962C8B-B14F-4D97-AF65-F5344CB8AC3E}">
        <p14:creationId xmlns:p14="http://schemas.microsoft.com/office/powerpoint/2010/main" val="107509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6250898" y="554863"/>
            <a:ext cx="5411862" cy="1212045"/>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Class-Imbalanced Dataset</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34446" y="4281322"/>
            <a:ext cx="11140327" cy="2064789"/>
          </a:xfrm>
          <a:prstGeom prst="rect">
            <a:avLst/>
          </a:prstGeom>
        </p:spPr>
      </p:pic>
      <p:sp>
        <p:nvSpPr>
          <p:cNvPr id="4" name="TextBox 3">
            <a:extLst>
              <a:ext uri="{FF2B5EF4-FFF2-40B4-BE49-F238E27FC236}">
                <a16:creationId xmlns:a16="http://schemas.microsoft.com/office/drawing/2014/main" id="{F61B464A-F2F4-307C-58F9-19B32CF8210D}"/>
              </a:ext>
            </a:extLst>
          </p:cNvPr>
          <p:cNvSpPr txBox="1"/>
          <p:nvPr/>
        </p:nvSpPr>
        <p:spPr>
          <a:xfrm>
            <a:off x="6250898" y="2036311"/>
            <a:ext cx="5627792" cy="1815882"/>
          </a:xfrm>
          <a:prstGeom prst="rect">
            <a:avLst/>
          </a:prstGeom>
          <a:noFill/>
        </p:spPr>
        <p:txBody>
          <a:bodyPr wrap="square">
            <a:spAutoFit/>
          </a:bodyPr>
          <a:lstStyle/>
          <a:p>
            <a:r>
              <a:rPr lang="en-US" sz="1400" dirty="0">
                <a:effectLst/>
                <a:latin typeface="Arial" panose="020B0604020202020204" pitchFamily="34" charset="0"/>
                <a:ea typeface="Calibri" panose="020F0502020204030204" pitchFamily="34" charset="0"/>
                <a:cs typeface="Arial" panose="020B0604020202020204" pitchFamily="34" charset="0"/>
              </a:rPr>
              <a:t>There is a </a:t>
            </a:r>
            <a:r>
              <a:rPr lang="en-US" sz="1400" b="1" dirty="0">
                <a:effectLst/>
                <a:latin typeface="Arial" panose="020B0604020202020204" pitchFamily="34" charset="0"/>
                <a:ea typeface="Calibri" panose="020F0502020204030204" pitchFamily="34" charset="0"/>
                <a:cs typeface="Arial" panose="020B0604020202020204" pitchFamily="34" charset="0"/>
              </a:rPr>
              <a:t>bias</a:t>
            </a:r>
            <a:r>
              <a:rPr lang="en-US" sz="1400" dirty="0">
                <a:latin typeface="Arial" panose="020B0604020202020204" pitchFamily="34" charset="0"/>
                <a:ea typeface="Calibri" panose="020F0502020204030204" pitchFamily="34" charset="0"/>
                <a:cs typeface="Arial" panose="020B0604020202020204" pitchFamily="34" charset="0"/>
              </a:rPr>
              <a:t> </a:t>
            </a:r>
            <a:r>
              <a:rPr lang="en-US" sz="1400" b="1" dirty="0">
                <a:latin typeface="Arial" panose="020B0604020202020204" pitchFamily="34" charset="0"/>
                <a:ea typeface="Calibri" panose="020F0502020204030204" pitchFamily="34" charset="0"/>
                <a:cs typeface="Arial" panose="020B0604020202020204" pitchFamily="34" charset="0"/>
              </a:rPr>
              <a:t>towards the majority class </a:t>
            </a:r>
            <a:r>
              <a:rPr lang="en-US" sz="1400" dirty="0">
                <a:latin typeface="Arial" panose="020B0604020202020204" pitchFamily="34" charset="0"/>
                <a:ea typeface="Calibri" panose="020F0502020204030204" pitchFamily="34" charset="0"/>
                <a:cs typeface="Arial" panose="020B0604020202020204" pitchFamily="34" charset="0"/>
              </a:rPr>
              <a:t>in Class-Imbalanced Dataset.</a:t>
            </a:r>
            <a:endParaRPr lang="en-US" sz="1400" dirty="0">
              <a:effectLst/>
              <a:latin typeface="Arial" panose="020B0604020202020204" pitchFamily="34" charset="0"/>
              <a:ea typeface="Calibri" panose="020F0502020204030204" pitchFamily="34" charset="0"/>
              <a:cs typeface="Arial" panose="020B0604020202020204" pitchFamily="34" charset="0"/>
            </a:endParaRPr>
          </a:p>
          <a:p>
            <a:br>
              <a:rPr lang="en-US" sz="1400" dirty="0">
                <a:effectLst/>
                <a:latin typeface="Arial" panose="020B0604020202020204" pitchFamily="34" charset="0"/>
                <a:ea typeface="Calibri" panose="020F0502020204030204" pitchFamily="34" charset="0"/>
                <a:cs typeface="Arial" panose="020B0604020202020204" pitchFamily="34" charset="0"/>
              </a:rPr>
            </a:br>
            <a:r>
              <a:rPr lang="en-ID" sz="1400" dirty="0">
                <a:latin typeface="Arial" panose="020B0604020202020204" pitchFamily="34" charset="0"/>
                <a:cs typeface="Arial" panose="020B0604020202020204" pitchFamily="34" charset="0"/>
              </a:rPr>
              <a:t>The model predicts </a:t>
            </a:r>
            <a:r>
              <a:rPr lang="en-ID" sz="1400" b="1" dirty="0">
                <a:latin typeface="Arial" panose="020B0604020202020204" pitchFamily="34" charset="0"/>
                <a:cs typeface="Arial" panose="020B0604020202020204" pitchFamily="34" charset="0"/>
              </a:rPr>
              <a:t>Class 0</a:t>
            </a:r>
            <a:r>
              <a:rPr lang="en-ID" sz="1400" dirty="0">
                <a:latin typeface="Arial" panose="020B0604020202020204" pitchFamily="34" charset="0"/>
                <a:cs typeface="Arial" panose="020B0604020202020204" pitchFamily="34" charset="0"/>
              </a:rPr>
              <a:t> with 100% confidence. </a:t>
            </a:r>
          </a:p>
          <a:p>
            <a:r>
              <a:rPr lang="en-ID" sz="1400" dirty="0">
                <a:latin typeface="Arial" panose="020B0604020202020204" pitchFamily="34" charset="0"/>
                <a:cs typeface="Arial" panose="020B0604020202020204" pitchFamily="34" charset="0"/>
              </a:rPr>
              <a:t>Probability of Class 1 is zero.</a:t>
            </a:r>
          </a:p>
          <a:p>
            <a:endParaRPr lang="en-ID" sz="1400" dirty="0">
              <a:latin typeface="Arial" panose="020B0604020202020204" pitchFamily="34" charset="0"/>
              <a:cs typeface="Arial" panose="020B0604020202020204" pitchFamily="34" charset="0"/>
            </a:endParaRPr>
          </a:p>
          <a:p>
            <a:r>
              <a:rPr lang="en-ID" sz="1400" b="1" dirty="0">
                <a:latin typeface="Arial" panose="020B0604020202020204" pitchFamily="34" charset="0"/>
                <a:cs typeface="Arial" panose="020B0604020202020204" pitchFamily="34" charset="0"/>
              </a:rPr>
              <a:t>Class 1</a:t>
            </a:r>
            <a:r>
              <a:rPr lang="en-ID" sz="1400" dirty="0">
                <a:latin typeface="Arial" panose="020B0604020202020204" pitchFamily="34" charset="0"/>
                <a:cs typeface="Arial" panose="020B0604020202020204" pitchFamily="34" charset="0"/>
              </a:rPr>
              <a:t> is the minority class, and the model learned to totally </a:t>
            </a:r>
            <a:r>
              <a:rPr lang="en-US" sz="1400" dirty="0">
                <a:effectLst/>
                <a:latin typeface="Arial" panose="020B0604020202020204" pitchFamily="34" charset="0"/>
                <a:ea typeface="Calibri" panose="020F0502020204030204" pitchFamily="34" charset="0"/>
                <a:cs typeface="Arial" panose="020B0604020202020204" pitchFamily="34" charset="0"/>
              </a:rPr>
              <a:t>ignores the probability of class 1 completely. </a:t>
            </a:r>
            <a:endParaRPr lang="en-ID"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Large Size Dataset Comparison</a:t>
            </a:r>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485346" y="2147342"/>
            <a:ext cx="6015663" cy="4472502"/>
          </a:xfrm>
          <a:prstGeom prst="rect">
            <a:avLst/>
          </a:prstGeom>
        </p:spPr>
      </p:pic>
      <p:sp>
        <p:nvSpPr>
          <p:cNvPr id="4" name="TextBox 3">
            <a:extLst>
              <a:ext uri="{FF2B5EF4-FFF2-40B4-BE49-F238E27FC236}">
                <a16:creationId xmlns:a16="http://schemas.microsoft.com/office/drawing/2014/main" id="{504B73E7-91A3-996F-B589-7EF102ADB79A}"/>
              </a:ext>
            </a:extLst>
          </p:cNvPr>
          <p:cNvSpPr txBox="1"/>
          <p:nvPr/>
        </p:nvSpPr>
        <p:spPr>
          <a:xfrm>
            <a:off x="6670623" y="1978702"/>
            <a:ext cx="4881407" cy="4320222"/>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The area under the curve (AUC) for Class-Balanced Data is higher than Class-Imbalanced Data.</a:t>
            </a: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 performs very well when the dataset is balanced. </a:t>
            </a:r>
            <a:endParaRPr lang="en-ID" sz="2000" dirty="0">
              <a:latin typeface="Times New Roman" panose="02020603050405020304" pitchFamily="18" charset="0"/>
              <a:ea typeface="Calibri" panose="020F0502020204030204" pitchFamily="34" charset="0"/>
            </a:endParaRP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model's true inability to predict the minority class becomes obvious, with a significant drop in AUC from 0.97 to 0.31.</a:t>
            </a:r>
            <a:endParaRPr lang="en-ID" sz="2000" b="1" dirty="0">
              <a:effectLst/>
              <a:latin typeface="Times New Roman" panose="02020603050405020304" pitchFamily="18" charset="0"/>
              <a:ea typeface="Calibri" panose="020F0502020204030204" pitchFamily="34" charset="0"/>
            </a:endParaRPr>
          </a:p>
        </p:txBody>
      </p:sp>
      <p:sp>
        <p:nvSpPr>
          <p:cNvPr id="8" name="TextBox 7">
            <a:extLst>
              <a:ext uri="{FF2B5EF4-FFF2-40B4-BE49-F238E27FC236}">
                <a16:creationId xmlns:a16="http://schemas.microsoft.com/office/drawing/2014/main" id="{CC606441-4CFF-EB05-F83A-2ACB7EA609EE}"/>
              </a:ext>
            </a:extLst>
          </p:cNvPr>
          <p:cNvSpPr txBox="1"/>
          <p:nvPr/>
        </p:nvSpPr>
        <p:spPr>
          <a:xfrm>
            <a:off x="515522" y="1158032"/>
            <a:ext cx="11310078" cy="873572"/>
          </a:xfrm>
          <a:prstGeom prst="rect">
            <a:avLst/>
          </a:prstGeom>
          <a:noFill/>
        </p:spPr>
        <p:txBody>
          <a:bodyPr wrap="square">
            <a:spAutoFit/>
          </a:bodyPr>
          <a:lstStyle/>
          <a:p>
            <a:pPr algn="just">
              <a:lnSpc>
                <a:spcPct val="150000"/>
              </a:lnSpc>
            </a:pPr>
            <a:r>
              <a:rPr lang="en-US" sz="1800" dirty="0">
                <a:effectLst/>
                <a:latin typeface="Times New Roman" panose="02020603050405020304" pitchFamily="18" charset="0"/>
                <a:ea typeface="Calibri" panose="020F0502020204030204" pitchFamily="34" charset="0"/>
              </a:rPr>
              <a:t>A low AUC value means that the prediction for the class is poor and has bias. A high AUC value means that the prediction for the class is good and has no bias.</a:t>
            </a:r>
            <a:endParaRPr lang="en-ID" sz="1800" dirty="0">
              <a:effectLst/>
              <a:latin typeface="Times New Roman" panose="02020603050405020304" pitchFamily="18" charset="0"/>
              <a:ea typeface="Calibri" panose="020F0502020204030204" pitchFamily="34" charset="0"/>
            </a:endParaRPr>
          </a:p>
        </p:txBody>
      </p:sp>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869431"/>
            <a:ext cx="3926851" cy="1506510"/>
          </a:xfrm>
        </p:spPr>
        <p:txBody>
          <a:bodyPr vert="horz" lIns="91440" tIns="45720" rIns="91440" bIns="45720" rtlCol="0" anchor="b" anchorCtr="0">
            <a:normAutofit fontScale="90000"/>
          </a:bodyPr>
          <a:lstStyle/>
          <a:p>
            <a:pPr>
              <a:lnSpc>
                <a:spcPct val="90000"/>
              </a:lnSpc>
            </a:pPr>
            <a:r>
              <a:rPr lang="en-US" b="1" dirty="0"/>
              <a:t>Small and </a:t>
            </a:r>
            <a:br>
              <a:rPr lang="en-US" b="1" dirty="0"/>
            </a:br>
            <a:r>
              <a:rPr lang="en-US" b="1" dirty="0"/>
              <a:t>Class-Balanced Dataset</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813451" y="5026512"/>
            <a:ext cx="10025098" cy="1149515"/>
          </a:xfrm>
          <a:prstGeom prst="rect">
            <a:avLst/>
          </a:prstGeom>
        </p:spPr>
      </p:pic>
      <p:sp>
        <p:nvSpPr>
          <p:cNvPr id="4" name="TextBox 3">
            <a:extLst>
              <a:ext uri="{FF2B5EF4-FFF2-40B4-BE49-F238E27FC236}">
                <a16:creationId xmlns:a16="http://schemas.microsoft.com/office/drawing/2014/main" id="{96B6AB66-DD95-73D9-CBC7-5A3896832169}"/>
              </a:ext>
            </a:extLst>
          </p:cNvPr>
          <p:cNvSpPr txBox="1"/>
          <p:nvPr/>
        </p:nvSpPr>
        <p:spPr>
          <a:xfrm>
            <a:off x="670668" y="2570637"/>
            <a:ext cx="5203072" cy="1715278"/>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The model can considering all features. </a:t>
            </a:r>
          </a:p>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Both features contribute to all classes. No class was ignored. </a:t>
            </a:r>
            <a:endParaRPr lang="en-ID" sz="2000" b="1" dirty="0">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866709"/>
          </a:xfrm>
        </p:spPr>
        <p:txBody>
          <a:bodyPr vert="horz" lIns="91440" tIns="45720" rIns="91440" bIns="45720" rtlCol="0" anchor="b" anchorCtr="0">
            <a:normAutofit fontScale="90000"/>
          </a:bodyPr>
          <a:lstStyle/>
          <a:p>
            <a:pPr>
              <a:lnSpc>
                <a:spcPct val="90000"/>
              </a:lnSpc>
            </a:pPr>
            <a:r>
              <a:rPr lang="en-US" sz="4100" b="1" dirty="0"/>
              <a:t>Small and </a:t>
            </a:r>
            <a:br>
              <a:rPr lang="en-US" sz="4100" b="1" dirty="0"/>
            </a:br>
            <a:r>
              <a:rPr lang="en-US" sz="4100" b="1" dirty="0"/>
              <a:t>Class-Imbalanced Dataset</a:t>
            </a:r>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68710" y="5104855"/>
            <a:ext cx="10970360" cy="1229645"/>
          </a:xfrm>
          <a:prstGeom prst="rect">
            <a:avLst/>
          </a:prstGeom>
        </p:spPr>
      </p:pic>
      <p:sp>
        <p:nvSpPr>
          <p:cNvPr id="3" name="TextBox 2">
            <a:extLst>
              <a:ext uri="{FF2B5EF4-FFF2-40B4-BE49-F238E27FC236}">
                <a16:creationId xmlns:a16="http://schemas.microsoft.com/office/drawing/2014/main" id="{185A9F35-EA32-2596-6901-F12063C37122}"/>
              </a:ext>
            </a:extLst>
          </p:cNvPr>
          <p:cNvSpPr txBox="1"/>
          <p:nvPr/>
        </p:nvSpPr>
        <p:spPr>
          <a:xfrm>
            <a:off x="475089" y="2459504"/>
            <a:ext cx="5218692" cy="1938992"/>
          </a:xfrm>
          <a:prstGeom prst="rect">
            <a:avLst/>
          </a:prstGeom>
          <a:noFill/>
        </p:spPr>
        <p:txBody>
          <a:bodyPr wrap="square">
            <a:spAutoFit/>
          </a:bodyPr>
          <a:lstStyle/>
          <a:p>
            <a:r>
              <a:rPr lang="en-US" sz="2000" dirty="0">
                <a:effectLst/>
                <a:latin typeface="Arial" panose="020B0604020202020204" pitchFamily="34" charset="0"/>
                <a:ea typeface="Calibri" panose="020F0502020204030204" pitchFamily="34" charset="0"/>
                <a:cs typeface="Arial" panose="020B0604020202020204" pitchFamily="34" charset="0"/>
              </a:rPr>
              <a:t>There is a bias in class-imbalanced dataset. But the </a:t>
            </a:r>
            <a:r>
              <a:rPr lang="en-US" sz="2000" b="1" dirty="0">
                <a:effectLst/>
                <a:latin typeface="Arial" panose="020B0604020202020204" pitchFamily="34" charset="0"/>
                <a:ea typeface="Calibri" panose="020F0502020204030204" pitchFamily="34" charset="0"/>
                <a:cs typeface="Arial" panose="020B0604020202020204" pitchFamily="34" charset="0"/>
              </a:rPr>
              <a:t>small sample size can’t detect it</a:t>
            </a:r>
            <a:r>
              <a:rPr lang="en-US" sz="2000" dirty="0">
                <a:effectLst/>
                <a:latin typeface="Arial" panose="020B0604020202020204" pitchFamily="34" charset="0"/>
                <a:ea typeface="Calibri" panose="020F0502020204030204" pitchFamily="34" charset="0"/>
                <a:cs typeface="Arial" panose="020B0604020202020204" pitchFamily="34" charset="0"/>
              </a:rPr>
              <a:t>.</a:t>
            </a:r>
          </a:p>
          <a:p>
            <a:endParaRPr lang="en-US" sz="2000" dirty="0">
              <a:latin typeface="Arial" panose="020B0604020202020204" pitchFamily="34" charset="0"/>
              <a:ea typeface="Calibri" panose="020F0502020204030204" pitchFamily="34" charset="0"/>
              <a:cs typeface="Arial" panose="020B0604020202020204" pitchFamily="34" charset="0"/>
            </a:endParaRPr>
          </a:p>
          <a:p>
            <a:r>
              <a:rPr lang="en-US" sz="2000" dirty="0">
                <a:effectLst/>
                <a:latin typeface="Arial" panose="020B0604020202020204" pitchFamily="34" charset="0"/>
                <a:ea typeface="Calibri" panose="020F0502020204030204" pitchFamily="34" charset="0"/>
                <a:cs typeface="Arial" panose="020B0604020202020204" pitchFamily="34" charset="0"/>
              </a:rPr>
              <a:t>In small sample size, the performance metrics </a:t>
            </a:r>
            <a:r>
              <a:rPr lang="en-US" sz="2000" b="1" dirty="0">
                <a:effectLst/>
                <a:latin typeface="Arial" panose="020B0604020202020204" pitchFamily="34" charset="0"/>
                <a:ea typeface="Calibri" panose="020F0502020204030204" pitchFamily="34" charset="0"/>
                <a:cs typeface="Arial" panose="020B0604020202020204" pitchFamily="34" charset="0"/>
              </a:rPr>
              <a:t>fakes</a:t>
            </a:r>
            <a:r>
              <a:rPr lang="en-US" sz="2000" dirty="0">
                <a:effectLst/>
                <a:latin typeface="Arial" panose="020B0604020202020204" pitchFamily="34" charset="0"/>
                <a:ea typeface="Calibri" panose="020F0502020204030204" pitchFamily="34" charset="0"/>
                <a:cs typeface="Arial" panose="020B0604020202020204" pitchFamily="34" charset="0"/>
              </a:rPr>
              <a:t> the bias on class-imbalanced dataset.</a:t>
            </a:r>
            <a:endParaRPr lang="en-ID" dirty="0"/>
          </a:p>
        </p:txBody>
      </p:sp>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sample size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4661750" y="1711690"/>
            <a:ext cx="6988518" cy="4616037"/>
          </a:xfrm>
          <a:prstGeom prst="rect">
            <a:avLst/>
          </a:prstGeom>
        </p:spPr>
      </p:pic>
      <p:sp>
        <p:nvSpPr>
          <p:cNvPr id="4" name="TextBox 3">
            <a:extLst>
              <a:ext uri="{FF2B5EF4-FFF2-40B4-BE49-F238E27FC236}">
                <a16:creationId xmlns:a16="http://schemas.microsoft.com/office/drawing/2014/main" id="{1FEF6F63-8CDB-7B4E-9E7F-033AEE33889D}"/>
              </a:ext>
            </a:extLst>
          </p:cNvPr>
          <p:cNvSpPr txBox="1"/>
          <p:nvPr/>
        </p:nvSpPr>
        <p:spPr>
          <a:xfrm>
            <a:off x="541733" y="1845329"/>
            <a:ext cx="3850018" cy="1938992"/>
          </a:xfrm>
          <a:prstGeom prst="rect">
            <a:avLst/>
          </a:prstGeom>
          <a:noFill/>
        </p:spPr>
        <p:txBody>
          <a:bodyPr wrap="square">
            <a:spAutoFit/>
          </a:bodyPr>
          <a:lstStyle/>
          <a:p>
            <a:r>
              <a:rPr lang="en-US" sz="2400" b="1" dirty="0">
                <a:effectLst/>
                <a:latin typeface="Arial" panose="020B0604020202020204" pitchFamily="34" charset="0"/>
                <a:ea typeface="Calibri" panose="020F0502020204030204" pitchFamily="34" charset="0"/>
                <a:cs typeface="Arial" panose="020B0604020202020204" pitchFamily="34" charset="0"/>
              </a:rPr>
              <a:t>Smaller sample sizes can fake the bias of class imbalance</a:t>
            </a:r>
            <a:r>
              <a:rPr lang="en-US" sz="2400" dirty="0">
                <a:effectLst/>
                <a:latin typeface="Arial" panose="020B0604020202020204" pitchFamily="34" charset="0"/>
                <a:ea typeface="Calibri" panose="020F0502020204030204" pitchFamily="34" charset="0"/>
                <a:cs typeface="Arial" panose="020B0604020202020204" pitchFamily="34" charset="0"/>
              </a:rPr>
              <a:t>, </a:t>
            </a:r>
          </a:p>
          <a:p>
            <a:r>
              <a:rPr lang="en-US" sz="2400" dirty="0">
                <a:effectLst/>
                <a:latin typeface="Arial" panose="020B0604020202020204" pitchFamily="34" charset="0"/>
                <a:ea typeface="Calibri" panose="020F0502020204030204" pitchFamily="34" charset="0"/>
                <a:cs typeface="Arial" panose="020B0604020202020204" pitchFamily="34" charset="0"/>
              </a:rPr>
              <a:t>making fake perception of model fairness. </a:t>
            </a:r>
            <a:endParaRPr lang="en-ID"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extLst>
              <p:ext uri="{D42A27DB-BD31-4B8C-83A1-F6EECF244321}">
                <p14:modId xmlns:p14="http://schemas.microsoft.com/office/powerpoint/2010/main" val="2408834885"/>
              </p:ext>
            </p:extLst>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176194790"/>
              </p:ext>
            </p:extLst>
          </p:nvPr>
        </p:nvGraphicFramePr>
        <p:xfrm>
          <a:off x="6095999" y="737419"/>
          <a:ext cx="4670323" cy="5484363"/>
        </p:xfrm>
        <a:graphic>
          <a:graphicData uri="http://schemas.openxmlformats.org/drawingml/2006/table">
            <a:tbl>
              <a:tblPr firstRow="1" bandRow="1">
                <a:tableStyleId>{0505E3EF-67EA-436B-97B2-0124C06EBD24}</a:tableStyleId>
              </a:tblPr>
              <a:tblGrid>
                <a:gridCol w="2441127">
                  <a:extLst>
                    <a:ext uri="{9D8B030D-6E8A-4147-A177-3AD203B41FA5}">
                      <a16:colId xmlns:a16="http://schemas.microsoft.com/office/drawing/2014/main" val="1953879122"/>
                    </a:ext>
                  </a:extLst>
                </a:gridCol>
                <a:gridCol w="2229196">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1685211335"/>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9753499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799904" y="1508286"/>
            <a:ext cx="10592192" cy="4385816"/>
          </a:xfrm>
          <a:prstGeom prst="rect">
            <a:avLst/>
          </a:prstGeom>
          <a:noFill/>
        </p:spPr>
        <p:txBody>
          <a:bodyPr wrap="square">
            <a:spAutoFit/>
          </a:bodyPr>
          <a:lstStyle/>
          <a:p>
            <a:pPr algn="just">
              <a:lnSpc>
                <a:spcPct val="150000"/>
              </a:lnSpc>
            </a:pPr>
            <a:r>
              <a:rPr lang="en-US" dirty="0">
                <a:effectLst/>
                <a:latin typeface="Arial" panose="020B0604020202020204" pitchFamily="34" charset="0"/>
                <a:ea typeface="Calibri" panose="020F0502020204030204" pitchFamily="34" charset="0"/>
                <a:cs typeface="Arial" panose="020B0604020202020204" pitchFamily="34" charset="0"/>
              </a:rPr>
              <a:t>This research found the important and needs for more data documentation standard in Responsible AI practices. Usually, AI fairness has focused on model transparency and explainability, but this research shows that documenting dataset composition is also very important. </a:t>
            </a:r>
          </a:p>
          <a:p>
            <a:pPr algn="just">
              <a:lnSpc>
                <a:spcPct val="150000"/>
              </a:lnSpc>
            </a:pPr>
            <a:endParaRPr lang="en-ID" dirty="0">
              <a:effectLst/>
              <a:latin typeface="Arial" panose="020B0604020202020204" pitchFamily="34" charset="0"/>
              <a:ea typeface="Calibri" panose="020F0502020204030204" pitchFamily="34" charset="0"/>
              <a:cs typeface="Arial" panose="020B0604020202020204" pitchFamily="34" charset="0"/>
            </a:endParaRPr>
          </a:p>
          <a:p>
            <a:pPr algn="just">
              <a:lnSpc>
                <a:spcPct val="150000"/>
              </a:lnSpc>
            </a:pPr>
            <a:r>
              <a:rPr lang="en-US" dirty="0">
                <a:effectLst/>
                <a:latin typeface="Arial" panose="020B0604020202020204" pitchFamily="34" charset="0"/>
                <a:ea typeface="Calibri" panose="020F0502020204030204" pitchFamily="34" charset="0"/>
                <a:cs typeface="Arial" panose="020B0604020202020204" pitchFamily="34" charset="0"/>
              </a:rPr>
              <a:t>By not addressing dataset homogeneity/ imbalance and how small sample sizes is, the biases can go undetected, and then leading to discriminative result in critical decision-making processes.</a:t>
            </a:r>
          </a:p>
          <a:p>
            <a:pPr algn="just">
              <a:lnSpc>
                <a:spcPct val="150000"/>
              </a:lnSpc>
            </a:pPr>
            <a:endParaRPr lang="en-ID" dirty="0">
              <a:effectLst/>
              <a:latin typeface="Arial" panose="020B0604020202020204" pitchFamily="34" charset="0"/>
              <a:ea typeface="Calibri" panose="020F0502020204030204" pitchFamily="34" charset="0"/>
              <a:cs typeface="Arial" panose="020B0604020202020204" pitchFamily="34" charset="0"/>
            </a:endParaRPr>
          </a:p>
          <a:p>
            <a:pPr algn="just">
              <a:lnSpc>
                <a:spcPct val="150000"/>
              </a:lnSpc>
            </a:pPr>
            <a:r>
              <a:rPr lang="en-ID" dirty="0">
                <a:effectLst/>
                <a:latin typeface="Arial" panose="020B0604020202020204" pitchFamily="34" charset="0"/>
                <a:ea typeface="Calibri" panose="020F0502020204030204" pitchFamily="34" charset="0"/>
                <a:cs typeface="Arial" panose="020B0604020202020204" pitchFamily="34" charset="0"/>
              </a:rPr>
              <a:t>The study underlines the importance of moving beyond model explainability. Transparency at both the model and dataset levels is essential for building fair AI systems.</a:t>
            </a:r>
          </a:p>
          <a:p>
            <a:pPr lvl="0"/>
            <a:endParaRPr lang="en-US" dirty="0">
              <a:latin typeface="Arial" panose="020B0604020202020204" pitchFamily="34" charset="0"/>
              <a:cs typeface="Arial" panose="020B0604020202020204" pitchFamily="34" charset="0"/>
            </a:endParaRPr>
          </a:p>
          <a:p>
            <a:pPr lvl="0"/>
            <a:endParaRPr lang="en-ID" dirty="0">
              <a:latin typeface="Arial" panose="020B0604020202020204" pitchFamily="34" charset="0"/>
              <a:cs typeface="Arial" panose="020B0604020202020204" pitchFamily="34" charset="0"/>
            </a:endParaRPr>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ID" sz="3600" b="1" dirty="0">
                <a:latin typeface="Arial" panose="020B0604020202020204" pitchFamily="34" charset="0"/>
                <a:cs typeface="Arial" panose="020B0604020202020204" pitchFamily="34" charset="0"/>
              </a:rPr>
              <a:t>Broader Impact on XAI</a:t>
            </a:r>
            <a:endParaRPr lang="en-US" sz="2400" kern="1200" cap="none" spc="0" baseline="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3998358048"/>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687</TotalTime>
  <Words>1740</Words>
  <Application>Microsoft Office PowerPoint</Application>
  <PresentationFormat>Widescreen</PresentationFormat>
  <Paragraphs>132</Paragraphs>
  <Slides>26</Slides>
  <Notes>26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  </vt:lpstr>
      <vt:lpstr>Research Questions</vt:lpstr>
      <vt:lpstr>02. Literature Review</vt:lpstr>
      <vt:lpstr>2.1. Overview of Relevant Previous Study</vt:lpstr>
      <vt:lpstr>2.2. Terminology and Definition</vt:lpstr>
      <vt:lpstr>PowerPoint Presentation</vt:lpstr>
      <vt:lpstr>04. Result Findings</vt:lpstr>
      <vt:lpstr>Large and  Class-Balanced Dataset</vt:lpstr>
      <vt:lpstr>Large and  Class-Imbalanced Dataset</vt:lpstr>
      <vt:lpstr>Large Size Dataset Comparison</vt:lpstr>
      <vt:lpstr>Small and  Class-Balanced Dataset</vt:lpstr>
      <vt:lpstr>Small and  Class-Imbalanced Dataset</vt:lpstr>
      <vt:lpstr>Small sample size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Broader Impact on XAI</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205</cp:revision>
  <dcterms:created xsi:type="dcterms:W3CDTF">2024-11-01T12:30:02Z</dcterms:created>
  <dcterms:modified xsi:type="dcterms:W3CDTF">2024-11-24T05:12:55Z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